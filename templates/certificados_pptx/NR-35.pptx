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2D"/>
    <a:srgbClr val="FFC611"/>
    <a:srgbClr val="CC99FF"/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4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56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71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0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67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73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56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4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13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1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597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8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2.png" descr="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277" y="476522"/>
            <a:ext cx="1473200" cy="56197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3315369" y="576832"/>
            <a:ext cx="5852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5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CERTIFICADO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59688" y="1738158"/>
            <a:ext cx="11204812" cy="2372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5460" marR="554355" algn="just">
              <a:lnSpc>
                <a:spcPct val="115000"/>
              </a:lnSpc>
              <a:spcBef>
                <a:spcPts val="1495"/>
              </a:spcBef>
            </a:pPr>
            <a:r>
              <a:rPr lang="pt-BR" sz="2000" dirty="0"/>
              <a:t>Certificamos que foi realizado no dia </a:t>
            </a:r>
            <a:r>
              <a:rPr lang="pt-BR" sz="2000" dirty="0" smtClean="0"/>
              <a:t>{{DIA}} de {{MES}} de {{ANO}}</a:t>
            </a:r>
            <a:r>
              <a:rPr lang="pt-BR" sz="2000" dirty="0"/>
              <a:t/>
            </a:r>
            <a:r>
              <a:rPr lang="pt-BR" sz="2000" dirty="0" smtClean="0"/>
              <a:t/>
            </a:r>
            <a:r>
              <a:rPr lang="pt-BR" sz="2000" dirty="0"/>
              <a:t>, o </a:t>
            </a:r>
            <a:r>
              <a:rPr lang="pt-BR" sz="2000" b="1" dirty="0"/>
              <a:t>TREINAMENTO DE TRABALHO EM ALTURA</a:t>
            </a:r>
            <a:r>
              <a:rPr lang="pt-BR" sz="2000" dirty="0"/>
              <a:t>, teórico e prático, conforme estabelece a NR-35, item 35.3, com carga horária de 08 horas, para o </a:t>
            </a:r>
            <a:r>
              <a:rPr lang="pt-BR" sz="2000" dirty="0" smtClean="0"/>
              <a:t>colaborador </a:t>
            </a:r>
            <a:r>
              <a:rPr lang="pt-BR" sz="2000" b="1" dirty="0"/>
              <a:t>{{NOME}}, </a:t>
            </a:r>
            <a:r>
              <a:rPr lang="pt-BR" sz="2000" dirty="0"/>
              <a:t>portador do </a:t>
            </a:r>
            <a:r>
              <a:rPr lang="pt-BR" sz="2000" dirty="0" err="1" smtClean="0"/>
              <a:t>cpf</a:t>
            </a:r>
            <a:r>
              <a:rPr lang="pt-BR" sz="2000" dirty="0"/>
              <a:t>: {{CPF}}, </a:t>
            </a:r>
            <a:r>
              <a:rPr lang="pt-BR" sz="2000" dirty="0" smtClean="0"/>
              <a:t>na </a:t>
            </a:r>
            <a:r>
              <a:rPr lang="pt-BR" sz="2000" dirty="0"/>
              <a:t>sede da empresa </a:t>
            </a:r>
            <a:r>
              <a:rPr lang="pt-BR" sz="2000" b="1" dirty="0"/>
              <a:t>ALTEC</a:t>
            </a:r>
            <a:r>
              <a:rPr lang="pt-BR" sz="2000" dirty="0"/>
              <a:t> </a:t>
            </a:r>
            <a:r>
              <a:rPr lang="pt-BR" sz="2000" b="1" dirty="0"/>
              <a:t>INDUSTRIAL LTDA</a:t>
            </a:r>
            <a:r>
              <a:rPr lang="pt-BR" sz="2000" dirty="0"/>
              <a:t>, inscrito no CNPJ - 09.591-971/0001-28, localizada na Rua Oswaldo Wermelinger,1208, Bairro </a:t>
            </a:r>
            <a:r>
              <a:rPr lang="pt-BR" sz="2000" dirty="0" err="1"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Lavrinhas</a:t>
            </a:r>
            <a:r>
              <a:rPr lang="pt-BR" sz="2000" dirty="0"/>
              <a:t>, Cordeiro – RJ</a:t>
            </a:r>
            <a:endParaRPr lang="pt-BR" sz="2000" b="1" i="1" dirty="0"/>
          </a:p>
          <a:p>
            <a:pPr marL="505460" marR="554355" algn="just">
              <a:lnSpc>
                <a:spcPct val="115000"/>
              </a:lnSpc>
              <a:spcBef>
                <a:spcPts val="1495"/>
              </a:spcBef>
            </a:pPr>
            <a:endParaRPr lang="pt-BR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7838293" y="3926449"/>
            <a:ext cx="3797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49275" algn="r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Cordeiro,</a:t>
            </a:r>
            <a:r>
              <a:rPr lang="pt-PT" spc="-3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pc="-3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{{DIA}} de {{MES}} de {{ANO}}</a:t>
            </a:r>
            <a:r>
              <a:rPr lang="pt-PT" spc="-3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pc="-3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0" y="4295781"/>
            <a:ext cx="12383589" cy="2259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9275">
              <a:spcBef>
                <a:spcPts val="500"/>
              </a:spcBef>
              <a:spcAft>
                <a:spcPts val="0"/>
              </a:spcAft>
            </a:pPr>
            <a:endParaRPr lang="pt-PT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</a:t>
            </a:r>
            <a:r>
              <a:rPr lang="pt-BR" sz="16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</a:t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_____________________________________________                                                                      ___________________________________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INSTRUTOR/RESPONSAVEL TÉCNICO                                                                                                           PARTICIPANTE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DÉBORA S. B. J. CÂMARA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TÉCNICO EM SEGURANÇA DO TRABALHO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REGISTRO</a:t>
            </a:r>
            <a:r>
              <a:rPr lang="pt-PT" sz="1600" b="1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MTE 44633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/RJ</a:t>
            </a:r>
            <a:endParaRPr lang="pt-BR" sz="16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063" y="309834"/>
            <a:ext cx="1447800" cy="1457325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49682" y="101600"/>
            <a:ext cx="12040718" cy="6650858"/>
          </a:xfrm>
          <a:prstGeom prst="rect">
            <a:avLst/>
          </a:prstGeom>
          <a:noFill/>
          <a:ln w="38100">
            <a:solidFill>
              <a:srgbClr val="FFC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4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25104" y="136478"/>
            <a:ext cx="11941791" cy="6544102"/>
          </a:xfrm>
          <a:prstGeom prst="rect">
            <a:avLst/>
          </a:prstGeom>
          <a:noFill/>
          <a:ln w="38100">
            <a:solidFill>
              <a:srgbClr val="FFC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600" b="1" dirty="0" smtClean="0">
                <a:latin typeface="+mn-lt"/>
                <a:cs typeface="Arial" panose="020B0604020202020204" pitchFamily="34" charset="0"/>
              </a:rPr>
              <a:t>ALTEC INDUSTRIAL LTDA</a:t>
            </a:r>
            <a:br>
              <a:rPr lang="pt-BR" sz="3600" b="1" dirty="0" smtClean="0">
                <a:latin typeface="+mn-lt"/>
                <a:cs typeface="Arial" panose="020B0604020202020204" pitchFamily="34" charset="0"/>
              </a:rPr>
            </a:br>
            <a:r>
              <a:rPr lang="pt-BR" sz="3600" b="1" dirty="0" smtClean="0">
                <a:latin typeface="+mn-lt"/>
                <a:cs typeface="Arial" panose="020B0604020202020204" pitchFamily="34" charset="0"/>
              </a:rPr>
              <a:t>Treinamento NR 35 – Trabalho em Altura - 8horas</a:t>
            </a:r>
            <a:endParaRPr lang="pt-BR" sz="36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071285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pt-BR" sz="2000" b="1" dirty="0" smtClean="0"/>
              <a:t>CONTEÚDO </a:t>
            </a:r>
            <a:r>
              <a:rPr lang="pt-BR" sz="2000" b="1" dirty="0"/>
              <a:t>PROGRAMÁTICO (50% prático / 50% teórico</a:t>
            </a:r>
            <a:r>
              <a:rPr lang="pt-BR" sz="2000" b="1" dirty="0" smtClean="0"/>
              <a:t>)</a:t>
            </a:r>
          </a:p>
          <a:p>
            <a:pPr algn="ctr"/>
            <a:r>
              <a:rPr lang="pt-PT" sz="2000" b="1" dirty="0"/>
              <a:t>NORMAS E REGULAMENTOS APLICÁVEIS AO TRABALHO EM </a:t>
            </a:r>
            <a:r>
              <a:rPr lang="pt-PT" sz="2000" b="1" dirty="0" smtClean="0"/>
              <a:t>ALTURA</a:t>
            </a:r>
          </a:p>
          <a:p>
            <a:pPr algn="ctr"/>
            <a:r>
              <a:rPr lang="pt-PT" sz="2000" b="1" dirty="0"/>
              <a:t>ANÁLISE DE RISCO E CONDIÇÕES </a:t>
            </a:r>
            <a:r>
              <a:rPr lang="pt-PT" sz="2000" b="1" dirty="0" smtClean="0"/>
              <a:t>IMPEDITIVAS</a:t>
            </a:r>
          </a:p>
          <a:p>
            <a:pPr algn="ctr"/>
            <a:r>
              <a:rPr lang="pt-PT" sz="2000" b="1" dirty="0"/>
              <a:t>RISCOS POTENCIAIS INERENTES AO TRABALHO EM ALTURA E MEDIDAS DE PREVENÇÃO E </a:t>
            </a:r>
            <a:r>
              <a:rPr lang="pt-PT" sz="2000" b="1" dirty="0" smtClean="0"/>
              <a:t>CONTROLE</a:t>
            </a:r>
          </a:p>
          <a:p>
            <a:pPr algn="ctr"/>
            <a:r>
              <a:rPr lang="pt-PT" sz="2000" b="1" dirty="0"/>
              <a:t>SISTEMAS ANCORAGEM, EQUIPAMENTOS E PROCEDIMENTOS PROTEÇÃO </a:t>
            </a:r>
            <a:r>
              <a:rPr lang="pt-PT" sz="2000" b="1" dirty="0" smtClean="0"/>
              <a:t>COLETIVA</a:t>
            </a:r>
          </a:p>
          <a:p>
            <a:pPr algn="ctr"/>
            <a:r>
              <a:rPr lang="pt-PT" sz="2000" b="1" dirty="0"/>
              <a:t>EPI'S PARA TRABALHO EM ALTURA: INSPEÇÃO,SELEÇÃO, CONSERVAÇÃO, LIMITAÇÃO DE </a:t>
            </a:r>
            <a:r>
              <a:rPr lang="pt-PT" sz="2000" b="1" dirty="0" smtClean="0"/>
              <a:t>USO</a:t>
            </a:r>
          </a:p>
          <a:p>
            <a:pPr algn="ctr"/>
            <a:r>
              <a:rPr lang="pt-PT" sz="2000" b="1" dirty="0"/>
              <a:t>ACIDENTES TÍPICOS EM TRABALHOS EM </a:t>
            </a:r>
            <a:r>
              <a:rPr lang="pt-PT" sz="2000" b="1" dirty="0" smtClean="0"/>
              <a:t>ALTURA</a:t>
            </a:r>
          </a:p>
          <a:p>
            <a:pPr algn="ctr"/>
            <a:r>
              <a:rPr lang="pt-PT" sz="2000" b="1" dirty="0"/>
              <a:t>CONDUTA EM SITUAÇÕES DE EMERGÊNCIA INCLUINDO NOÇÕES DE TÉCNICAS DE RESGATE E DE PRIMEIROS SOCORROS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1012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206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Times New Roman</vt:lpstr>
      <vt:lpstr>Tema do Office</vt:lpstr>
      <vt:lpstr>Apresentação do PowerPoint</vt:lpstr>
      <vt:lpstr>ALTEC INDUSTRIAL LTDA Treinamento NR 35 – Trabalho em Altura - 8horas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Altec</dc:creator>
  <cp:lastModifiedBy>Altec</cp:lastModifiedBy>
  <cp:revision>171</cp:revision>
  <cp:lastPrinted>2025-04-29T14:37:04Z</cp:lastPrinted>
  <dcterms:created xsi:type="dcterms:W3CDTF">2025-02-06T13:17:25Z</dcterms:created>
  <dcterms:modified xsi:type="dcterms:W3CDTF">2026-08-28T16:48:31Z</dcterms:modified>
</cp:coreProperties>
</file>