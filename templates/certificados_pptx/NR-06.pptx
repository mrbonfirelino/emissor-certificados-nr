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84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FF"/>
    <a:srgbClr val="CC99FF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4487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6563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4717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0093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9672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7734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2562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644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9139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4012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25973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C27295-879F-4043-9F45-905A344DE10D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4099C-FBAA-4536-B2AB-F010E64C4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228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2.png" descr="LOGO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5277" y="476522"/>
            <a:ext cx="1890848" cy="746820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3315369" y="576832"/>
            <a:ext cx="58522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5400" dirty="0">
                <a:solidFill>
                  <a:srgbClr val="171B5C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CERTIFICADO</a:t>
            </a:r>
            <a:endParaRPr lang="pt-BR" sz="54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ítulo 7"/>
          <p:cNvSpPr>
            <a:spLocks noGrp="1"/>
          </p:cNvSpPr>
          <p:nvPr>
            <p:ph type="ctrTitle" idx="4294967295"/>
          </p:nvPr>
        </p:nvSpPr>
        <p:spPr>
          <a:xfrm>
            <a:off x="117566" y="1989752"/>
            <a:ext cx="11701395" cy="2003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05460" marR="554355" algn="ctr">
              <a:lnSpc>
                <a:spcPct val="115000"/>
              </a:lnSpc>
              <a:spcBef>
                <a:spcPts val="1495"/>
              </a:spcBef>
            </a:pPr>
            <a:r>
              <a:rPr lang="pt-PT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Certificamos que </a:t>
            </a:r>
            <a:r>
              <a:rPr lang="pt-BR" sz="18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{{NOME}}</a:t>
            </a:r>
            <a:r>
              <a:rPr lang="pt-PT" sz="1800" b="1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</a:t>
            </a:r>
            <a:r>
              <a:rPr lang="pt-PT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portador da CPF:{{CPF}}, concluiu  com aproveitamento o </a:t>
            </a:r>
            <a:r>
              <a:rPr lang="pt-PT" sz="18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TREINAMENTO DE EQUIPAMENTO DE PROTEÇÃO</a:t>
            </a:r>
            <a:r>
              <a:rPr lang="pt-PT" sz="18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pt-PT" sz="18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INDIVIDUAL (EPI’S)</a:t>
            </a:r>
            <a:r>
              <a:rPr lang="pt-PT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conforme estabelece a NR-06, com carga horária de 03 (três) horas, no dia </a:t>
            </a:r>
            <a:r>
              <a:rPr lang="pt-PT" sz="18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{{DIA}} de {{MES}} de {{ANO}}</a:t>
            </a:r>
            <a:r>
              <a:rPr lang="pt-PT" sz="18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/>
            </a:r>
            <a:r>
              <a:rPr lang="pt-PT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/>
            </a:r>
            <a:r>
              <a:rPr lang="pt-PT" sz="18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/>
            </a:r>
            <a:r>
              <a:rPr lang="pt-PT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na</a:t>
            </a:r>
            <a:r>
              <a:rPr lang="pt-PT" sz="1800" spc="5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pt-PT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sede</a:t>
            </a:r>
            <a:r>
              <a:rPr lang="pt-PT" sz="1800" spc="9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pt-PT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da</a:t>
            </a:r>
            <a:r>
              <a:rPr lang="pt-PT" sz="1800" spc="9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pt-PT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empresa</a:t>
            </a:r>
            <a:r>
              <a:rPr lang="pt-PT" sz="1800" spc="9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pt-PT" sz="18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ALTEC</a:t>
            </a:r>
            <a:r>
              <a:rPr lang="pt-PT" sz="1800" b="1" spc="7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pt-PT" sz="18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INDUSTRIAL LTDA sob o CNPJ: 09.591.971/0001-28</a:t>
            </a:r>
            <a:r>
              <a:rPr lang="pt-PT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</a:t>
            </a:r>
            <a:r>
              <a:rPr lang="pt-PT" sz="1800" spc="-3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pt-PT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situada</a:t>
            </a:r>
            <a:r>
              <a:rPr lang="pt-PT" sz="1800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pt-PT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na</a:t>
            </a:r>
            <a:r>
              <a:rPr lang="pt-PT" sz="1800" spc="-4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pt-BR" sz="1800" dirty="0">
                <a:latin typeface="Cambria" panose="02040503050406030204" pitchFamily="18" charset="0"/>
                <a:ea typeface="Cambria" panose="02040503050406030204" pitchFamily="18" charset="0"/>
              </a:rPr>
              <a:t>Rua Oswaldo </a:t>
            </a:r>
            <a:r>
              <a:rPr lang="pt-BR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Wermelinger</a:t>
            </a:r>
            <a:r>
              <a:rPr lang="pt-BR" sz="1800" dirty="0">
                <a:latin typeface="Cambria" panose="02040503050406030204" pitchFamily="18" charset="0"/>
                <a:ea typeface="Cambria" panose="02040503050406030204" pitchFamily="18" charset="0"/>
              </a:rPr>
              <a:t> 1208</a:t>
            </a:r>
            <a:r>
              <a:rPr lang="pt-PT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</a:t>
            </a:r>
            <a:r>
              <a:rPr lang="pt-PT" sz="1800" spc="-2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pt-PT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Bairro</a:t>
            </a:r>
            <a:r>
              <a:rPr lang="pt-PT" sz="1800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Lavrinhas</a:t>
            </a:r>
            <a:r>
              <a:rPr lang="pt-PT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– Cordeiro/RJ.</a:t>
            </a:r>
            <a:r>
              <a:rPr lang="pt-BR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/>
            </a:r>
            <a:br>
              <a:rPr lang="pt-BR" sz="18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</a:br>
            <a:endParaRPr lang="pt-BR" sz="1800" dirty="0"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0" y="4268250"/>
            <a:ext cx="12046071" cy="2259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549275">
              <a:spcBef>
                <a:spcPts val="500"/>
              </a:spcBef>
              <a:spcAft>
                <a:spcPts val="0"/>
              </a:spcAft>
            </a:pPr>
            <a:endParaRPr lang="pt-PT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R="549275">
              <a:spcBef>
                <a:spcPts val="500"/>
              </a:spcBef>
              <a:spcAft>
                <a:spcPts val="0"/>
              </a:spcAft>
            </a:pPr>
            <a:r>
              <a:rPr lang="pt-PT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  </a:t>
            </a:r>
            <a:r>
              <a:rPr lang="pt-BR" sz="1600" dirty="0" smtClean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R="549275">
              <a:spcBef>
                <a:spcPts val="500"/>
              </a:spcBef>
              <a:spcAft>
                <a:spcPts val="0"/>
              </a:spcAft>
            </a:pPr>
            <a:r>
              <a:rPr lang="pt-PT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</a:t>
            </a:r>
            <a:r>
              <a:rPr lang="pt-PT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_____________________________________________                                                                      ___________________________________           </a:t>
            </a:r>
          </a:p>
          <a:p>
            <a:pPr marR="549275">
              <a:spcBef>
                <a:spcPts val="500"/>
              </a:spcBef>
              <a:spcAft>
                <a:spcPts val="0"/>
              </a:spcAft>
            </a:pPr>
            <a:r>
              <a:rPr lang="pt-PT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pt-PT" b="1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 </a:t>
            </a:r>
            <a:r>
              <a:rPr lang="pt-PT" sz="1600" b="1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INSTRUTOR/RESPONSAVEL TÉCNICO                                                                                                           PARTICIPANTE</a:t>
            </a:r>
            <a:endParaRPr lang="pt-BR" sz="1600" dirty="0" smtClean="0"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R="549275">
              <a:spcBef>
                <a:spcPts val="500"/>
              </a:spcBef>
              <a:spcAft>
                <a:spcPts val="0"/>
              </a:spcAft>
            </a:pPr>
            <a:r>
              <a:rPr lang="pt-PT" sz="1600" b="1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              DÉBORA S. B. J. CÂMARA</a:t>
            </a:r>
            <a:endParaRPr lang="pt-BR" sz="1600" dirty="0" smtClean="0"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R="549275">
              <a:spcBef>
                <a:spcPts val="500"/>
              </a:spcBef>
              <a:spcAft>
                <a:spcPts val="0"/>
              </a:spcAft>
            </a:pPr>
            <a:r>
              <a:rPr lang="pt-PT" sz="1600" b="1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</a:t>
            </a:r>
            <a:r>
              <a:rPr lang="pt-PT" sz="16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TÉCNICO EM SEGURANÇA DO TRABALHO</a:t>
            </a:r>
            <a:endParaRPr lang="pt-BR" sz="1600" dirty="0" smtClean="0"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pt-PT" sz="16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        REGISTRO</a:t>
            </a:r>
            <a:r>
              <a:rPr lang="pt-PT" sz="1600" b="1" spc="-2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MTE 44633</a:t>
            </a:r>
            <a:r>
              <a:rPr lang="pt-PT" sz="16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/RJ</a:t>
            </a:r>
            <a:endParaRPr lang="pt-BR" sz="1600" dirty="0"/>
          </a:p>
        </p:txBody>
      </p:sp>
      <p:sp>
        <p:nvSpPr>
          <p:cNvPr id="10" name="Retângulo 9"/>
          <p:cNvSpPr/>
          <p:nvPr/>
        </p:nvSpPr>
        <p:spPr>
          <a:xfrm>
            <a:off x="8197132" y="3713693"/>
            <a:ext cx="38489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549275" algn="r">
              <a:spcBef>
                <a:spcPts val="500"/>
              </a:spcBef>
              <a:spcAft>
                <a:spcPts val="0"/>
              </a:spcAft>
            </a:pPr>
            <a:r>
              <a:rPr lang="pt-PT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Cordeiro</a:t>
            </a:r>
            <a:r>
              <a:rPr lang="pt-PT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</a:t>
            </a:r>
            <a:r>
              <a:rPr lang="pt-PT" spc="-3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pt-PT" spc="-3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{{DIA}} de {{MES}} de {{ANO}}</a:t>
            </a:r>
            <a:r>
              <a:rPr lang="pt-PT" spc="-3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/>
            </a:r>
            <a:r>
              <a:rPr lang="pt-PT" spc="-3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/>
            </a:r>
            <a:r>
              <a:rPr lang="pt-PT" spc="-3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/>
            </a:r>
            <a:r>
              <a:rPr lang="pt-PT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pt-PT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</a:t>
            </a:r>
            <a:endParaRPr lang="pt-BR" sz="1600" dirty="0"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117566" y="108128"/>
            <a:ext cx="11928505" cy="6701246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3.png" descr="C:\Users\Altec\Downloads\Capturar-removebg-preview (74)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76829" y="576832"/>
            <a:ext cx="1320800" cy="84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354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070266" y="601079"/>
            <a:ext cx="63785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CONTEÚDO </a:t>
            </a:r>
            <a:r>
              <a:rPr lang="pt-PT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PROGRAMÁTICO – 03 HORAS</a:t>
            </a:r>
            <a:endParaRPr lang="pt-B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457200" y="1031966"/>
            <a:ext cx="10896600" cy="552558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PT" sz="16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pt-PT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pt-PT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pt-PT" sz="1600" dirty="0">
                <a:latin typeface="Cambria" panose="02040503050406030204" pitchFamily="18" charset="0"/>
                <a:ea typeface="Cambria" panose="02040503050406030204" pitchFamily="18" charset="0"/>
              </a:rPr>
              <a:t>DEFINIÇÕES E INTRODUÇÃO A SEGURANÇA DO TRABALHO NA NR 06;</a:t>
            </a:r>
          </a:p>
          <a:p>
            <a:pPr marL="0" indent="0">
              <a:buNone/>
            </a:pPr>
            <a:r>
              <a:rPr lang="pt-PT" sz="1600" dirty="0">
                <a:latin typeface="Cambria" panose="02040503050406030204" pitchFamily="18" charset="0"/>
                <a:ea typeface="Cambria" panose="02040503050406030204" pitchFamily="18" charset="0"/>
              </a:rPr>
              <a:t>2. O QUE É EQUIPAMENTO DE PROTEÇÃO INDIVIDUAL (EPI’S) E EQUIPAMENTO DE PROTEÇÃO COLETIVA (EPC’S);</a:t>
            </a:r>
          </a:p>
          <a:p>
            <a:pPr marL="0" indent="0">
              <a:buNone/>
            </a:pPr>
            <a:r>
              <a:rPr lang="pt-PT" sz="1600" dirty="0">
                <a:latin typeface="Cambria" panose="02040503050406030204" pitchFamily="18" charset="0"/>
                <a:ea typeface="Cambria" panose="02040503050406030204" pitchFamily="18" charset="0"/>
              </a:rPr>
              <a:t>3. RESPONSABILIDADES DO EMPREGADOR E DO TRABALHADOR;</a:t>
            </a:r>
          </a:p>
          <a:p>
            <a:pPr marL="0" indent="0">
              <a:buNone/>
            </a:pPr>
            <a:r>
              <a:rPr lang="pt-PT" sz="1600" dirty="0">
                <a:latin typeface="Cambria" panose="02040503050406030204" pitchFamily="18" charset="0"/>
                <a:ea typeface="Cambria" panose="02040503050406030204" pitchFamily="18" charset="0"/>
              </a:rPr>
              <a:t>4. RESPONSABILIDADES DOS FABRICANTES E IMPORTADORES – C.A. – CERTIFICADO DE APROVAÇÃO DOS EPI’S;</a:t>
            </a:r>
          </a:p>
          <a:p>
            <a:pPr marL="0" indent="0">
              <a:buNone/>
            </a:pPr>
            <a:r>
              <a:rPr lang="pt-PT" sz="1600"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  <a:r>
              <a:rPr lang="pt-PT" sz="1600" smtClean="0">
                <a:latin typeface="Cambria" panose="02040503050406030204" pitchFamily="18" charset="0"/>
                <a:ea typeface="Cambria" panose="02040503050406030204" pitchFamily="18" charset="0"/>
              </a:rPr>
              <a:t>. DA </a:t>
            </a:r>
            <a:r>
              <a:rPr lang="pt-PT" sz="1600" dirty="0">
                <a:latin typeface="Cambria" panose="02040503050406030204" pitchFamily="18" charset="0"/>
                <a:ea typeface="Cambria" panose="02040503050406030204" pitchFamily="18" charset="0"/>
              </a:rPr>
              <a:t>COMPETÊNCIA DO MINISTÉRIO DO TRABALHO E EMPREGO – MTE;</a:t>
            </a:r>
          </a:p>
          <a:p>
            <a:pPr marL="0" lvl="0" indent="0">
              <a:buNone/>
            </a:pPr>
            <a:r>
              <a:rPr lang="pt-PT" sz="1600" dirty="0">
                <a:latin typeface="Cambria" panose="02040503050406030204" pitchFamily="18" charset="0"/>
                <a:ea typeface="Cambria" panose="02040503050406030204" pitchFamily="18" charset="0"/>
              </a:rPr>
              <a:t>6. USO ADEQUADO, GUARDA, CONSERVAÇÃO E INSPEÇÃO DE PRÉ-USO;</a:t>
            </a:r>
            <a:endParaRPr lang="pt-B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>
              <a:buNone/>
            </a:pPr>
            <a:r>
              <a:rPr lang="pt-PT" sz="1600" dirty="0">
                <a:latin typeface="Cambria" panose="02040503050406030204" pitchFamily="18" charset="0"/>
                <a:ea typeface="Cambria" panose="02040503050406030204" pitchFamily="18" charset="0"/>
              </a:rPr>
              <a:t>7. RISCOS POTENCIAIS DE NÃO USO DOS EPI’S E TIPOS DE ACIDENTES;</a:t>
            </a:r>
            <a:endParaRPr lang="pt-B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>
              <a:buNone/>
            </a:pPr>
            <a:r>
              <a:rPr lang="pt-PT" sz="1600" dirty="0">
                <a:latin typeface="Cambria" panose="02040503050406030204" pitchFamily="18" charset="0"/>
                <a:ea typeface="Cambria" panose="02040503050406030204" pitchFamily="18" charset="0"/>
              </a:rPr>
              <a:t>8. TABELA DE EPI’S X FUNÇÕES;</a:t>
            </a:r>
            <a:endParaRPr lang="pt-B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pt-PT" sz="1600" dirty="0">
                <a:latin typeface="Cambria" panose="02040503050406030204" pitchFamily="18" charset="0"/>
                <a:ea typeface="Cambria" panose="02040503050406030204" pitchFamily="18" charset="0"/>
              </a:rPr>
              <a:t>9. ANÁLISE DE RISCO E FICHA DE CONTROLE DE EPI’S;</a:t>
            </a:r>
          </a:p>
          <a:p>
            <a:pPr marL="0" indent="0">
              <a:buNone/>
            </a:pPr>
            <a:r>
              <a:rPr lang="pt-PT" sz="1600" dirty="0">
                <a:latin typeface="Cambria" panose="02040503050406030204" pitchFamily="18" charset="0"/>
                <a:ea typeface="Cambria" panose="02040503050406030204" pitchFamily="18" charset="0"/>
              </a:rPr>
              <a:t>10. EPI’S PARA AS SEGUINTES PROTEÇÕES: CABEÇA, OLHOS E FACE, PROTEÇÃO AUDITIVA, PROTEÇÃO RESPIRATÓRIA, TRONCO, MEMBROS SUPERIORES E INFERIORES,CORPO INTEIRO, CONTRA QUEDAS DO MESMO NÍVEL E COM DIFERENÇA DE NÍVEL</a:t>
            </a:r>
            <a:endParaRPr lang="pt-PT" sz="1200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pt-BR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195943" y="117566"/>
            <a:ext cx="11808823" cy="660980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4801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1003</TotalTime>
  <Words>269</Words>
  <Application>Microsoft Office PowerPoint</Application>
  <PresentationFormat>Widescreen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Cambria</vt:lpstr>
      <vt:lpstr>Times New Roman</vt:lpstr>
      <vt:lpstr>Tema do Office</vt:lpstr>
      <vt:lpstr>Certificamos que JONATAS PEREIRA CYPRIANO, portador da CPF:14464636721, concluiu  com aproveitamento o TREINAMENTO DE EQUIPAMENTO DE PROTEÇÃO INDIVIDUAL (EPI’S), conforme estabelece a NR-06, com carga horária de 03 (três) horas, no dia 27 de agosto de 2026 na sede da empresa ALTEC INDUSTRIAL LTDA sob o CNPJ: 09.591.971/0001-28, situada na Rua Oswaldo Wermelinger 1208, Bairro Lavrinhas – Cordeiro/RJ. 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Altec</dc:creator>
  <cp:lastModifiedBy>Altec</cp:lastModifiedBy>
  <cp:revision>204</cp:revision>
  <cp:lastPrinted>2025-04-29T16:29:01Z</cp:lastPrinted>
  <dcterms:created xsi:type="dcterms:W3CDTF">2025-02-06T13:17:25Z</dcterms:created>
  <dcterms:modified xsi:type="dcterms:W3CDTF">2026-08-28T16:30:55Z</dcterms:modified>
</cp:coreProperties>
</file>