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8" r:id="rId2"/>
    <p:sldId id="318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D2D"/>
    <a:srgbClr val="FFC611"/>
    <a:srgbClr val="CC99FF"/>
    <a:srgbClr val="9999FF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189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4487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6563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4717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0093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9672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7734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2562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644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9139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4012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25973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C27295-879F-4043-9F45-905A344DE10D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228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2.png" descr="LOGO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5277" y="476522"/>
            <a:ext cx="1473200" cy="561975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3315369" y="576832"/>
            <a:ext cx="58522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5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CERTIFICADO</a:t>
            </a:r>
            <a:endParaRPr lang="pt-BR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49682" y="1456092"/>
            <a:ext cx="12040718" cy="30808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05460" marR="554355" algn="just">
              <a:lnSpc>
                <a:spcPct val="115000"/>
              </a:lnSpc>
              <a:spcBef>
                <a:spcPts val="1495"/>
              </a:spcBef>
            </a:pPr>
            <a:r>
              <a:rPr lang="pt-BR" sz="2000" dirty="0"/>
              <a:t>Certificamos que foi realizado no dia {{DIA}} de {{MES}} de {{ANO}}, o </a:t>
            </a:r>
            <a:r>
              <a:rPr lang="pt-BR" sz="2000" b="1" dirty="0"/>
              <a:t>TREINAMENTO DE SEGURANÇA EM MÁQUINAS E EQUIPAMENTOS (ATIVIDADES COM OPERAÇÃO, MANUTENÇÃO, INSPEÇÃO E DEMIAS INTERVENÇÕES EM PRENSAS E SIMILARES), MÁQUINA ROTATIVAS (ESMERILHADEIRA, LIXADEIRA, SERRA POLITORTE E ETC)</a:t>
            </a:r>
            <a:r>
              <a:rPr lang="pt-BR" sz="2000" dirty="0"/>
              <a:t> – unificação, conforme estabelece a NR 12 em seu anexo II, com carga horária de 08 horas, para o colaborador </a:t>
            </a:r>
            <a:r>
              <a:rPr lang="pt-BR" sz="2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{{NOME}}</a:t>
            </a:r>
            <a:r>
              <a:rPr lang="pt-BR" sz="2000" b="1" dirty="0"/>
              <a:t>, </a:t>
            </a:r>
            <a:r>
              <a:rPr lang="pt-BR" sz="2000" dirty="0"/>
              <a:t>portador do </a:t>
            </a:r>
            <a:r>
              <a:rPr lang="pt-BR" sz="2000" dirty="0" err="1"/>
              <a:t>cpf</a:t>
            </a:r>
            <a:r>
              <a:rPr lang="pt-BR" sz="2000" dirty="0"/>
              <a:t>:</a:t>
            </a:r>
            <a:r>
              <a:rPr lang="pt-PT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{{CPF}}</a:t>
            </a:r>
            <a:r>
              <a:rPr lang="pt-BR" sz="2000" b="1" dirty="0"/>
              <a:t> </a:t>
            </a:r>
            <a:r>
              <a:rPr lang="pt-BR" sz="2000" dirty="0"/>
              <a:t>na sede da empresa </a:t>
            </a:r>
            <a:r>
              <a:rPr lang="pt-BR" sz="2000" b="1" dirty="0"/>
              <a:t>ALTEC</a:t>
            </a:r>
            <a:r>
              <a:rPr lang="pt-BR" sz="2000" dirty="0"/>
              <a:t> </a:t>
            </a:r>
            <a:r>
              <a:rPr lang="pt-BR" sz="2000" b="1" dirty="0"/>
              <a:t>INDUSTRIAL LTDA</a:t>
            </a:r>
            <a:r>
              <a:rPr lang="pt-BR" sz="2000" dirty="0"/>
              <a:t>, inscrito no CNPJ - 09.591-971/0001-28, localizada na Rua Oswaldo Wermelinger,1208, Bairro </a:t>
            </a:r>
            <a:r>
              <a:rPr lang="pt-BR" sz="2000" dirty="0" err="1"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Lavrinhas</a:t>
            </a:r>
            <a:r>
              <a:rPr lang="pt-BR" sz="2000" dirty="0"/>
              <a:t>, Cordeiro – RJ</a:t>
            </a:r>
            <a:endParaRPr lang="pt-BR" sz="2000" b="1" i="1" dirty="0"/>
          </a:p>
          <a:p>
            <a:pPr marL="505460" marR="554355" algn="just">
              <a:lnSpc>
                <a:spcPct val="115000"/>
              </a:lnSpc>
              <a:spcBef>
                <a:spcPts val="1495"/>
              </a:spcBef>
            </a:pPr>
            <a:endParaRPr lang="pt-BR" dirty="0">
              <a:effectLst/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8149818" y="4167603"/>
            <a:ext cx="37976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549275" algn="r">
              <a:spcBef>
                <a:spcPts val="500"/>
              </a:spcBef>
              <a:spcAft>
                <a:spcPts val="0"/>
              </a:spcAft>
            </a:pPr>
            <a:r>
              <a:rPr lang="pt-PT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Cordeiro,</a:t>
            </a:r>
            <a:r>
              <a:rPr lang="pt-PT" spc="-3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{{DIA}} de {{MES}} de {{ANO}}</a:t>
            </a:r>
            <a:r>
              <a:rPr lang="pt-PT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</a:t>
            </a:r>
            <a:endParaRPr lang="pt-BR" sz="1600" dirty="0">
              <a:effectLst/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220539" y="4352269"/>
            <a:ext cx="12041875" cy="2195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549275">
              <a:spcBef>
                <a:spcPts val="500"/>
              </a:spcBef>
              <a:spcAft>
                <a:spcPts val="0"/>
              </a:spcAft>
            </a:pPr>
            <a:endParaRPr lang="pt-PT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R="549275">
              <a:spcBef>
                <a:spcPts val="500"/>
              </a:spcBef>
              <a:spcAft>
                <a:spcPts val="0"/>
              </a:spcAft>
            </a:pPr>
            <a:r>
              <a:rPr lang="pt-PT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       </a:t>
            </a:r>
            <a:r>
              <a:rPr lang="pt-BR" sz="16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                                                                                                                                                                                             </a:t>
            </a:r>
            <a:r>
              <a:rPr lang="pt-PT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 _____________________________________________                                                                                 </a:t>
            </a:r>
          </a:p>
          <a:p>
            <a:pPr marR="549275">
              <a:spcBef>
                <a:spcPts val="500"/>
              </a:spcBef>
              <a:spcAft>
                <a:spcPts val="0"/>
              </a:spcAft>
            </a:pPr>
            <a:r>
              <a:rPr lang="pt-PT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       </a:t>
            </a:r>
            <a:r>
              <a:rPr lang="pt-PT" sz="16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INSTRUTOR/RESPONSAVEL TÉCNICO                                                                                                          </a:t>
            </a:r>
            <a:endParaRPr lang="pt-BR" sz="1600" dirty="0">
              <a:effectLst/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R="549275">
              <a:spcBef>
                <a:spcPts val="500"/>
              </a:spcBef>
              <a:spcAft>
                <a:spcPts val="0"/>
              </a:spcAft>
            </a:pPr>
            <a:r>
              <a:rPr lang="pt-PT" sz="16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                   DÉBORA S. B. J. CÂMARA                                                                                                      _________________________________________</a:t>
            </a:r>
            <a:endParaRPr lang="pt-BR" sz="1600" dirty="0">
              <a:effectLst/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R="549275">
              <a:spcBef>
                <a:spcPts val="500"/>
              </a:spcBef>
              <a:spcAft>
                <a:spcPts val="0"/>
              </a:spcAft>
            </a:pPr>
            <a:r>
              <a:rPr lang="pt-PT" sz="16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    TÉCNICO EM SEGURANÇA DO TRABALHO                                                                                                   PARTICIPANTE    </a:t>
            </a:r>
            <a:endParaRPr lang="pt-BR" sz="1600" dirty="0">
              <a:effectLst/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pt-PT" sz="16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             REGISTRO</a:t>
            </a:r>
            <a:r>
              <a:rPr lang="pt-PT" sz="1600" b="1" spc="-2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MTE 44633</a:t>
            </a:r>
            <a:r>
              <a:rPr lang="pt-PT" sz="16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/RJ</a:t>
            </a:r>
            <a:endParaRPr lang="pt-BR" sz="1600" dirty="0"/>
          </a:p>
        </p:txBody>
      </p:sp>
      <p:sp>
        <p:nvSpPr>
          <p:cNvPr id="3" name="Retângulo 2"/>
          <p:cNvSpPr/>
          <p:nvPr/>
        </p:nvSpPr>
        <p:spPr>
          <a:xfrm>
            <a:off x="49682" y="101600"/>
            <a:ext cx="12040718" cy="6650858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0856" y="211576"/>
            <a:ext cx="1315292" cy="128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391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125104" y="136478"/>
            <a:ext cx="11941791" cy="6544102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5661" y="136479"/>
            <a:ext cx="11696130" cy="1105467"/>
          </a:xfrm>
        </p:spPr>
        <p:txBody>
          <a:bodyPr>
            <a:normAutofit fontScale="90000"/>
          </a:bodyPr>
          <a:lstStyle/>
          <a:p>
            <a:pPr algn="ctr"/>
            <a:br>
              <a:rPr lang="pt-BR" sz="2800" b="1" dirty="0">
                <a:latin typeface="+mn-lt"/>
                <a:cs typeface="Arial" panose="020B0604020202020204" pitchFamily="34" charset="0"/>
              </a:rPr>
            </a:br>
            <a:r>
              <a:rPr lang="pt-BR" sz="2800" b="1" dirty="0">
                <a:latin typeface="+mn-lt"/>
                <a:cs typeface="Arial" panose="020B0604020202020204" pitchFamily="34" charset="0"/>
              </a:rPr>
              <a:t>ALTEC INDUSTRIAL LTDA</a:t>
            </a:r>
            <a:br>
              <a:rPr lang="pt-BR" sz="2800" b="1" dirty="0">
                <a:latin typeface="+mn-lt"/>
                <a:cs typeface="Arial" panose="020B0604020202020204" pitchFamily="34" charset="0"/>
              </a:rPr>
            </a:br>
            <a:r>
              <a:rPr lang="pt-BR" sz="2400" b="1" dirty="0">
                <a:latin typeface="+mn-lt"/>
                <a:cs typeface="Arial" panose="020B0604020202020204" pitchFamily="34" charset="0"/>
              </a:rPr>
              <a:t>NR 12 – TREINAMENTO DE SEGURANÇA EM MÁQUINAS E EQUIPAMENTOS - 8horas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5661" y="1487606"/>
            <a:ext cx="11821234" cy="5602407"/>
          </a:xfrm>
        </p:spPr>
        <p:txBody>
          <a:bodyPr>
            <a:normAutofit/>
          </a:bodyPr>
          <a:lstStyle/>
          <a:p>
            <a:pPr algn="ctr"/>
            <a:r>
              <a:rPr lang="pt-BR" sz="2000" b="1" dirty="0"/>
              <a:t>CONTEÚDO PROGRAMÁTICO (50% prático / 50% teórico)</a:t>
            </a:r>
          </a:p>
          <a:p>
            <a:pPr marL="0" indent="0" algn="ctr">
              <a:buNone/>
            </a:pPr>
            <a:r>
              <a:rPr lang="pt-BR" sz="2000" b="1" dirty="0"/>
              <a:t>Descrição e identificação dos riscos associados com cada máquina e equipamento e as proteções específicas contra cada um deles e seu manual de instruções</a:t>
            </a:r>
          </a:p>
          <a:p>
            <a:pPr marL="0" indent="0" algn="ctr">
              <a:buNone/>
            </a:pPr>
            <a:r>
              <a:rPr lang="pt-BR" sz="2000" b="1" dirty="0"/>
              <a:t>Funcionamento das proteções; como e por que devem ser usadas; sistema de bloqueio de funcionamento da máquina e equipamento durante operações de inspeção, limpeza, lubrificação e manutenção. </a:t>
            </a:r>
          </a:p>
          <a:p>
            <a:pPr marL="0" indent="0" algn="ctr">
              <a:buNone/>
            </a:pPr>
            <a:r>
              <a:rPr lang="pt-BR" sz="2000" b="1" dirty="0"/>
              <a:t>  Como e em que circunstâncias uma proteção pode ser removida, e por quem, sendo na maioria dos casos, somente o pessoal de inspeção ou manutenção;</a:t>
            </a:r>
          </a:p>
          <a:p>
            <a:pPr marL="0" indent="0" algn="ctr">
              <a:buNone/>
            </a:pPr>
            <a:r>
              <a:rPr lang="pt-BR" sz="2000" b="1" dirty="0"/>
              <a:t> O que fazer, por exemplo, contatar o supervisor, se uma proteção foi danificada ou se perdeu sua função, deixando de garantir uma segurança adequada; os princípios de segurança na utilização da máquina ou equipamento;</a:t>
            </a:r>
          </a:p>
          <a:p>
            <a:pPr marL="0" indent="0" algn="ctr">
              <a:buNone/>
            </a:pPr>
            <a:r>
              <a:rPr lang="pt-BR" sz="2000" b="1" dirty="0"/>
              <a:t>Segurança para riscos mecânicos, elétricos e outros relevantes; método de trabalho seguro;  permissão de trabalho; análise de riscos; </a:t>
            </a:r>
            <a:r>
              <a:rPr lang="pt-BR" sz="2000" b="1" dirty="0" err="1"/>
              <a:t>check</a:t>
            </a:r>
            <a:r>
              <a:rPr lang="pt-BR" sz="2000" b="1" dirty="0"/>
              <a:t> </a:t>
            </a:r>
            <a:r>
              <a:rPr lang="pt-BR" sz="2000" b="1" dirty="0" err="1"/>
              <a:t>list</a:t>
            </a:r>
            <a:r>
              <a:rPr lang="pt-BR" sz="2000" b="1" dirty="0"/>
              <a:t> de inspeção de </a:t>
            </a:r>
            <a:r>
              <a:rPr lang="pt-BR" sz="2000" b="1" dirty="0" err="1"/>
              <a:t>pré-uso</a:t>
            </a:r>
            <a:r>
              <a:rPr lang="pt-BR" sz="2000" b="1" dirty="0"/>
              <a:t> e uso de </a:t>
            </a:r>
            <a:r>
              <a:rPr lang="pt-BR" sz="2000" b="1" dirty="0" err="1"/>
              <a:t>epi´s</a:t>
            </a:r>
            <a:r>
              <a:rPr lang="pt-BR" sz="2000" b="1" dirty="0"/>
              <a:t> e </a:t>
            </a:r>
            <a:r>
              <a:rPr lang="pt-BR" sz="2000" b="1" dirty="0" err="1"/>
              <a:t>epc´s</a:t>
            </a:r>
            <a:r>
              <a:rPr lang="pt-BR" sz="2000" b="1" dirty="0"/>
              <a:t>;</a:t>
            </a:r>
          </a:p>
          <a:p>
            <a:pPr marL="0" indent="0" algn="ctr">
              <a:buNone/>
            </a:pPr>
            <a:r>
              <a:rPr lang="pt-BR" sz="2000" b="1" dirty="0"/>
              <a:t>Responsabilidade do operador, dispositivos de bloqueio,, proteção das partes móveis; manutenção preventiva e corretiva, conceitos de perigos e riscos, sinalização e isolamento do local de trabalho e noções de primeiros socorros. </a:t>
            </a:r>
          </a:p>
        </p:txBody>
      </p:sp>
    </p:spTree>
    <p:extLst>
      <p:ext uri="{BB962C8B-B14F-4D97-AF65-F5344CB8AC3E}">
        <p14:creationId xmlns:p14="http://schemas.microsoft.com/office/powerpoint/2010/main" val="31072523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1011</TotalTime>
  <Words>380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Cambria</vt:lpstr>
      <vt:lpstr>Times New Roman</vt:lpstr>
      <vt:lpstr>Tema do Office</vt:lpstr>
      <vt:lpstr>Apresentação do PowerPoint</vt:lpstr>
      <vt:lpstr> ALTEC INDUSTRIAL LTDA NR 12 – TREINAMENTO DE SEGURANÇA EM MÁQUINAS E EQUIPAMENTOS - 8horas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Altec</dc:creator>
  <cp:lastModifiedBy>Altec Da Silva</cp:lastModifiedBy>
  <cp:revision>172</cp:revision>
  <cp:lastPrinted>2025-04-29T14:37:04Z</cp:lastPrinted>
  <dcterms:created xsi:type="dcterms:W3CDTF">2025-02-06T13:17:25Z</dcterms:created>
  <dcterms:modified xsi:type="dcterms:W3CDTF">2026-09-15T19:02:48Z</dcterms:modified>
</cp:coreProperties>
</file>