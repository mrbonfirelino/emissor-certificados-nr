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73" r:id="rId5"/>
    <p:sldId id="274" r:id="rId6"/>
    <p:sldId id="275" r:id="rId7"/>
    <p:sldId id="277" r:id="rId8"/>
  </p:sldIdLst>
  <p:sldSz cx="6858000" cy="9144000" type="screen4x3"/>
  <p:notesSz cx="6797675" cy="9926638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8" autoAdjust="0"/>
  </p:normalViewPr>
  <p:slideViewPr>
    <p:cSldViewPr>
      <p:cViewPr>
        <p:scale>
          <a:sx n="90" d="100"/>
          <a:sy n="90" d="100"/>
        </p:scale>
        <p:origin x="1380" y="-22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1362A-3FDF-48DC-9AE1-6C023A460F5F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1241425"/>
            <a:ext cx="25114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1CCCB-A056-44E6-9142-5618DC20F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6364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1CCCB-A056-44E6-9142-5618DC20F583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5570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5A6FF89-1565-5769-AC27-56E01A58F0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45230B-8203-7972-14CC-7006914679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D355F87-4271-589F-09F6-6E6B7DB6B4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E2CDD2-1679-488C-A76B-0FE50EA078A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45582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C159EA-6A8B-7FB3-136F-EA575857D7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B7AB08-8927-1E1B-9DAB-0C03FAD120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2A9538-6151-1CEA-4191-9BE7DCEC32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6DA1F-3703-426A-80DA-C11473D316F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14044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B4307C-072E-74CC-E2E2-DF23859E40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166309-59FD-20D1-1BD5-B1FF3C5177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79F0D0-F42E-3877-1969-DD512AC800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BCC6D4-9C74-4401-9E67-F034CE9F18A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9549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2900" y="2133600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505200" y="2133600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E6C599-FBA9-6777-75B4-75B0228C50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D6A246-BA9D-C115-E8EA-6438578BCF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96FD08-4AC1-34A9-5716-FD9EA74802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6613C7-D9AC-4D83-992E-7FAE4A1CA51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6756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7242A20-8F22-0591-B83A-59C01C050B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23AD9EF-98E7-0185-5B91-2470077DB0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322BA42-10C1-B3A0-E40C-A82672A028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451EBE-E92B-4899-89EE-7E8432CC4DE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51308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F1425E6-9F47-3C7A-8B59-934B9E3E49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968F3B3-7FD7-9E2A-25B5-A0891C6661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77943C5-287A-2489-07CE-453203BF85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4BCBE7-1C98-4850-90B3-5348D49EB33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89761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8B6B0E3-3678-E599-7753-D25207323D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0E02001-CC8D-0485-68B1-95B4B1EF34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04601F0-A548-20FD-D069-36B310CBC8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5D05C7-4F8F-4D5F-AD8F-C9CCDF46558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0767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552C72-2523-1738-8D5A-A7893E98E7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9E5602-46BD-6505-CBE9-CEAD68A31C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F18BF1-5664-B69A-1CC6-0E2BC53F93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CC3D5A-2225-4A7D-9D0B-C942151B9C7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61918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493775-68B5-4F7C-BA48-F8C566F1F8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9FEA-68D0-347F-4844-88AC849B78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2EF0A5-2577-FB52-AF87-E433BB8476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0580FB-D035-4F89-BE0C-258C3823466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10473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06B23D-8DE4-3F42-3F7D-12EF1D0429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2B5CFE-3194-34AE-E4EE-DD54512E6F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C73A09-6A40-23F8-53DE-D5CF82C526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9CF948-0421-4F58-9366-F57CAA358C8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66522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66713"/>
            <a:ext cx="1543050" cy="780097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713"/>
            <a:ext cx="4476750" cy="780097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37E526D-29C2-8280-51A3-F695FFC090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CBBE77A-4C50-255E-713E-79B6F5F6F6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8C6E7A-6D2E-D6FA-B2B2-BD12CF0352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1DA89-44F2-412D-B6AE-CB49684B298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77998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E8E8566-1499-2AB5-3ADA-DEFD404D3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366713"/>
            <a:ext cx="6172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DD39083-7EDB-549A-FB9C-AE32F0722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2133600"/>
            <a:ext cx="6172200" cy="603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E761AB4-B8E7-690F-46E8-E53EC319A8A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18866B2-C936-10DA-B771-C44AB8B3F0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26438"/>
            <a:ext cx="21717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948BA2C-BFC8-0FCC-5820-D590E1A5EDA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3927F4CD-D116-4508-AA57-03CF43B6CBF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4">
            <a:extLst>
              <a:ext uri="{FF2B5EF4-FFF2-40B4-BE49-F238E27FC236}">
                <a16:creationId xmlns:a16="http://schemas.microsoft.com/office/drawing/2014/main" id="{87A20DAD-8159-3608-9E02-CD67FAED39F7}"/>
              </a:ext>
            </a:extLst>
          </p:cNvPr>
          <p:cNvGrpSpPr>
            <a:grpSpLocks/>
          </p:cNvGrpSpPr>
          <p:nvPr/>
        </p:nvGrpSpPr>
        <p:grpSpPr bwMode="auto">
          <a:xfrm>
            <a:off x="257174" y="2316163"/>
            <a:ext cx="6340475" cy="2051050"/>
            <a:chOff x="1048" y="1655"/>
            <a:chExt cx="3994" cy="1292"/>
          </a:xfrm>
        </p:grpSpPr>
        <p:grpSp>
          <p:nvGrpSpPr>
            <p:cNvPr id="2084" name="Group 15">
              <a:extLst>
                <a:ext uri="{FF2B5EF4-FFF2-40B4-BE49-F238E27FC236}">
                  <a16:creationId xmlns:a16="http://schemas.microsoft.com/office/drawing/2014/main" id="{E11A9F78-EE26-B358-9954-8A4799B01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" y="1655"/>
              <a:ext cx="3994" cy="1292"/>
              <a:chOff x="1048" y="1655"/>
              <a:chExt cx="3994" cy="1292"/>
            </a:xfrm>
          </p:grpSpPr>
          <p:grpSp>
            <p:nvGrpSpPr>
              <p:cNvPr id="2086" name="Group 16">
                <a:extLst>
                  <a:ext uri="{FF2B5EF4-FFF2-40B4-BE49-F238E27FC236}">
                    <a16:creationId xmlns:a16="http://schemas.microsoft.com/office/drawing/2014/main" id="{3706F397-816E-2697-10BB-9AFE277D3EB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048" y="1655"/>
                <a:ext cx="3994" cy="1292"/>
                <a:chOff x="544" y="1712"/>
                <a:chExt cx="4537" cy="1587"/>
              </a:xfrm>
            </p:grpSpPr>
            <p:pic>
              <p:nvPicPr>
                <p:cNvPr id="2090" name="Picture 17" descr="Cartao_autorizacao empresa contratada (1)">
                  <a:extLst>
                    <a:ext uri="{FF2B5EF4-FFF2-40B4-BE49-F238E27FC236}">
                      <a16:creationId xmlns:a16="http://schemas.microsoft.com/office/drawing/2014/main" id="{1F242285-5834-C1E9-F000-BCAE581AC56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4" y="1712"/>
                  <a:ext cx="4537" cy="15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91" name="Text Box 19">
                  <a:extLst>
                    <a:ext uri="{FF2B5EF4-FFF2-40B4-BE49-F238E27FC236}">
                      <a16:creationId xmlns:a16="http://schemas.microsoft.com/office/drawing/2014/main" id="{04A2D5BA-36E1-FEBA-FC34-93B6BB9FDD57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462" y="2352"/>
                  <a:ext cx="1455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r>
                    <a:rPr lang="pt-BR" altLang="pt-BR" sz="9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Nome: </a:t>
                  </a:r>
                  <a:r>
                    <a:rPr lang="pt-BR" altLang="pt-BR" sz="9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FABRICIO CARVALHO </a:t>
                  </a:r>
                  <a:r>
                    <a:rPr lang="pt-BR" altLang="pt-BR" sz="900" b="1" dirty="0" smtClean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FERREIRA</a:t>
                  </a:r>
                  <a:r>
                    <a:rPr lang="pt-BR" altLang="pt-BR" sz="800" b="1" dirty="0" smtClean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 </a:t>
                  </a:r>
                  <a:endParaRPr lang="pt-BR" altLang="pt-BR" sz="800" b="1" dirty="0">
                    <a:solidFill>
                      <a:srgbClr val="000000"/>
                    </a:solidFill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2087" name="Text Box 20">
                <a:extLst>
                  <a:ext uri="{FF2B5EF4-FFF2-40B4-BE49-F238E27FC236}">
                    <a16:creationId xmlns:a16="http://schemas.microsoft.com/office/drawing/2014/main" id="{6CAA846F-5C89-394C-F213-2AF6EFD58B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6" y="2723"/>
                <a:ext cx="11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pt-BR" altLang="pt-BR" sz="800">
                  <a:ea typeface="MS PGothic" panose="020B0600070205080204" pitchFamily="34" charset="-128"/>
                </a:endParaRPr>
              </a:p>
            </p:txBody>
          </p:sp>
          <p:sp>
            <p:nvSpPr>
              <p:cNvPr id="2088" name="Text Box 21">
                <a:extLst>
                  <a:ext uri="{FF2B5EF4-FFF2-40B4-BE49-F238E27FC236}">
                    <a16:creationId xmlns:a16="http://schemas.microsoft.com/office/drawing/2014/main" id="{C793A03D-C72F-868F-DA40-C8FB95ABE9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4" y="2719"/>
                <a:ext cx="717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500">
                    <a:solidFill>
                      <a:srgbClr val="000000"/>
                    </a:solidFill>
                    <a:ea typeface="MS PGothic" panose="020B0600070205080204" pitchFamily="34" charset="-128"/>
                  </a:rPr>
                  <a:t>Este cartão é de uso exclusivo na área da ArcelorMIttal Tubarão</a:t>
                </a:r>
              </a:p>
            </p:txBody>
          </p:sp>
          <p:sp>
            <p:nvSpPr>
              <p:cNvPr id="2089" name="Rectangle 22">
                <a:extLst>
                  <a:ext uri="{FF2B5EF4-FFF2-40B4-BE49-F238E27FC236}">
                    <a16:creationId xmlns:a16="http://schemas.microsoft.com/office/drawing/2014/main" id="{F297CF9F-C536-D598-7AB1-68914D57F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2" y="1712"/>
                <a:ext cx="456" cy="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800"/>
              </a:p>
            </p:txBody>
          </p:sp>
        </p:grpSp>
        <p:sp>
          <p:nvSpPr>
            <p:cNvPr id="2085" name="Rectangle 23">
              <a:extLst>
                <a:ext uri="{FF2B5EF4-FFF2-40B4-BE49-F238E27FC236}">
                  <a16:creationId xmlns:a16="http://schemas.microsoft.com/office/drawing/2014/main" id="{0744B21F-060A-99B5-DFFF-95E4169B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2" y="2704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grpSp>
        <p:nvGrpSpPr>
          <p:cNvPr id="2051" name="Group 22">
            <a:extLst>
              <a:ext uri="{FF2B5EF4-FFF2-40B4-BE49-F238E27FC236}">
                <a16:creationId xmlns:a16="http://schemas.microsoft.com/office/drawing/2014/main" id="{5E0E5BE1-D494-9B6D-FFDF-FD6A0E8B1B32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73025"/>
            <a:ext cx="6340475" cy="2051050"/>
            <a:chOff x="0" y="0"/>
            <a:chExt cx="3994" cy="1292"/>
          </a:xfrm>
        </p:grpSpPr>
        <p:pic>
          <p:nvPicPr>
            <p:cNvPr id="2080" name="Picture 7" descr="Cartao_autorizacao empresa contratada (1)">
              <a:extLst>
                <a:ext uri="{FF2B5EF4-FFF2-40B4-BE49-F238E27FC236}">
                  <a16:creationId xmlns:a16="http://schemas.microsoft.com/office/drawing/2014/main" id="{C802A1C4-7E5A-AD81-621D-22AFEFDF9B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994" cy="1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81" name="Text Box 10">
              <a:extLst>
                <a:ext uri="{FF2B5EF4-FFF2-40B4-BE49-F238E27FC236}">
                  <a16:creationId xmlns:a16="http://schemas.microsoft.com/office/drawing/2014/main" id="{97959D44-06C6-1FBE-4AEC-2CB67B6DEE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" y="1068"/>
              <a:ext cx="11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800">
                <a:ea typeface="MS PGothic" panose="020B0600070205080204" pitchFamily="34" charset="-128"/>
              </a:endParaRPr>
            </a:p>
          </p:txBody>
        </p:sp>
        <p:sp>
          <p:nvSpPr>
            <p:cNvPr id="2082" name="Text Box 11">
              <a:extLst>
                <a:ext uri="{FF2B5EF4-FFF2-40B4-BE49-F238E27FC236}">
                  <a16:creationId xmlns:a16="http://schemas.microsoft.com/office/drawing/2014/main" id="{4C6FAC2F-78EE-C75B-2743-D2D6A4D49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" y="1064"/>
              <a:ext cx="7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500">
                  <a:solidFill>
                    <a:srgbClr val="000000"/>
                  </a:solidFill>
                  <a:ea typeface="MS PGothic" panose="020B0600070205080204" pitchFamily="34" charset="-128"/>
                </a:rPr>
                <a:t>Este cartão é de uso exclusivo na área da ArcelorMIttal Tubarão</a:t>
              </a:r>
            </a:p>
          </p:txBody>
        </p:sp>
        <p:sp>
          <p:nvSpPr>
            <p:cNvPr id="2083" name="Rectangle 13">
              <a:extLst>
                <a:ext uri="{FF2B5EF4-FFF2-40B4-BE49-F238E27FC236}">
                  <a16:creationId xmlns:a16="http://schemas.microsoft.com/office/drawing/2014/main" id="{835378F3-EDFA-5A3D-8C7D-E87FEC7CE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049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sp>
        <p:nvSpPr>
          <p:cNvPr id="2052" name="Retângulo 3">
            <a:extLst>
              <a:ext uri="{FF2B5EF4-FFF2-40B4-BE49-F238E27FC236}">
                <a16:creationId xmlns:a16="http://schemas.microsoft.com/office/drawing/2014/main" id="{463EEEB3-340F-6F28-79EB-D4213940A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3790950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</p:txBody>
      </p:sp>
      <p:grpSp>
        <p:nvGrpSpPr>
          <p:cNvPr id="2053" name="Group 14">
            <a:extLst>
              <a:ext uri="{FF2B5EF4-FFF2-40B4-BE49-F238E27FC236}">
                <a16:creationId xmlns:a16="http://schemas.microsoft.com/office/drawing/2014/main" id="{E95A31A5-A09F-2F28-96C1-60EAECAC3447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6946900"/>
            <a:ext cx="6340475" cy="2051050"/>
            <a:chOff x="1048" y="1655"/>
            <a:chExt cx="3994" cy="1292"/>
          </a:xfrm>
        </p:grpSpPr>
        <p:grpSp>
          <p:nvGrpSpPr>
            <p:cNvPr id="2072" name="Group 15">
              <a:extLst>
                <a:ext uri="{FF2B5EF4-FFF2-40B4-BE49-F238E27FC236}">
                  <a16:creationId xmlns:a16="http://schemas.microsoft.com/office/drawing/2014/main" id="{85BCA71A-ABAE-67B9-CDA6-B13FCD9C01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" y="1655"/>
              <a:ext cx="3994" cy="1292"/>
              <a:chOff x="1048" y="1655"/>
              <a:chExt cx="3994" cy="1292"/>
            </a:xfrm>
          </p:grpSpPr>
          <p:grpSp>
            <p:nvGrpSpPr>
              <p:cNvPr id="2074" name="Group 16">
                <a:extLst>
                  <a:ext uri="{FF2B5EF4-FFF2-40B4-BE49-F238E27FC236}">
                    <a16:creationId xmlns:a16="http://schemas.microsoft.com/office/drawing/2014/main" id="{349598CC-5189-6720-D407-F8A992C2C6B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048" y="1655"/>
                <a:ext cx="3994" cy="1292"/>
                <a:chOff x="544" y="1712"/>
                <a:chExt cx="4537" cy="1587"/>
              </a:xfrm>
            </p:grpSpPr>
            <p:pic>
              <p:nvPicPr>
                <p:cNvPr id="2078" name="Picture 17" descr="Cartao_autorizacao empresa contratada (1)">
                  <a:extLst>
                    <a:ext uri="{FF2B5EF4-FFF2-40B4-BE49-F238E27FC236}">
                      <a16:creationId xmlns:a16="http://schemas.microsoft.com/office/drawing/2014/main" id="{BEA78897-9342-F1A3-F3B1-3CAD415A325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4" y="1712"/>
                  <a:ext cx="4537" cy="15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79" name="Text Box 19">
                  <a:extLst>
                    <a:ext uri="{FF2B5EF4-FFF2-40B4-BE49-F238E27FC236}">
                      <a16:creationId xmlns:a16="http://schemas.microsoft.com/office/drawing/2014/main" id="{7323BEAF-0AAE-C903-BC1A-39BAAD995ED6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410" y="2356"/>
                  <a:ext cx="1455" cy="1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r>
                    <a:rPr lang="pt-BR" altLang="pt-BR" sz="9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Nome: </a:t>
                  </a:r>
                  <a:r>
                    <a:rPr lang="pt-BR" altLang="pt-BR" sz="8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JUAN OLIVEIRA ANTONIO</a:t>
                  </a:r>
                  <a:endParaRPr lang="pt-BR" altLang="pt-BR" sz="800" b="1" dirty="0">
                    <a:solidFill>
                      <a:srgbClr val="000000"/>
                    </a:solidFill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2075" name="Text Box 20">
                <a:extLst>
                  <a:ext uri="{FF2B5EF4-FFF2-40B4-BE49-F238E27FC236}">
                    <a16:creationId xmlns:a16="http://schemas.microsoft.com/office/drawing/2014/main" id="{A6196DB2-B5B8-1EB1-D01C-EBD787FA4C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6" y="2723"/>
                <a:ext cx="11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pt-BR" altLang="pt-BR" sz="800">
                  <a:ea typeface="MS PGothic" panose="020B0600070205080204" pitchFamily="34" charset="-128"/>
                </a:endParaRPr>
              </a:p>
            </p:txBody>
          </p:sp>
          <p:sp>
            <p:nvSpPr>
              <p:cNvPr id="2076" name="Text Box 21">
                <a:extLst>
                  <a:ext uri="{FF2B5EF4-FFF2-40B4-BE49-F238E27FC236}">
                    <a16:creationId xmlns:a16="http://schemas.microsoft.com/office/drawing/2014/main" id="{CC27A73F-9198-F004-6D2C-50B8F15E37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4" y="2719"/>
                <a:ext cx="717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500">
                    <a:solidFill>
                      <a:srgbClr val="000000"/>
                    </a:solidFill>
                    <a:ea typeface="MS PGothic" panose="020B0600070205080204" pitchFamily="34" charset="-128"/>
                  </a:rPr>
                  <a:t>Este cartão é de uso exclusivo na área da ArcelorMIttal Tubarão</a:t>
                </a:r>
              </a:p>
            </p:txBody>
          </p:sp>
          <p:sp>
            <p:nvSpPr>
              <p:cNvPr id="2077" name="Rectangle 22">
                <a:extLst>
                  <a:ext uri="{FF2B5EF4-FFF2-40B4-BE49-F238E27FC236}">
                    <a16:creationId xmlns:a16="http://schemas.microsoft.com/office/drawing/2014/main" id="{E1AEAAF6-6A8F-64D3-B27C-45E5F58067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2" y="1712"/>
                <a:ext cx="456" cy="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800"/>
              </a:p>
            </p:txBody>
          </p:sp>
        </p:grpSp>
        <p:sp>
          <p:nvSpPr>
            <p:cNvPr id="2073" name="Rectangle 23">
              <a:extLst>
                <a:ext uri="{FF2B5EF4-FFF2-40B4-BE49-F238E27FC236}">
                  <a16:creationId xmlns:a16="http://schemas.microsoft.com/office/drawing/2014/main" id="{55030A56-CE61-CEF3-E15D-3A6E78CB9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2" y="2704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grpSp>
        <p:nvGrpSpPr>
          <p:cNvPr id="2054" name="Group 22">
            <a:extLst>
              <a:ext uri="{FF2B5EF4-FFF2-40B4-BE49-F238E27FC236}">
                <a16:creationId xmlns:a16="http://schemas.microsoft.com/office/drawing/2014/main" id="{5C0E1AB1-B899-54C0-E92F-D4E792B89559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4643438"/>
            <a:ext cx="6340475" cy="2051050"/>
            <a:chOff x="0" y="0"/>
            <a:chExt cx="3994" cy="1292"/>
          </a:xfrm>
        </p:grpSpPr>
        <p:pic>
          <p:nvPicPr>
            <p:cNvPr id="2067" name="Picture 7" descr="Cartao_autorizacao empresa contratada (1)">
              <a:extLst>
                <a:ext uri="{FF2B5EF4-FFF2-40B4-BE49-F238E27FC236}">
                  <a16:creationId xmlns:a16="http://schemas.microsoft.com/office/drawing/2014/main" id="{EA21AF8D-E51E-9DF9-222E-24D2D5FF4C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994" cy="1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68" name="Text Box 10">
              <a:extLst>
                <a:ext uri="{FF2B5EF4-FFF2-40B4-BE49-F238E27FC236}">
                  <a16:creationId xmlns:a16="http://schemas.microsoft.com/office/drawing/2014/main" id="{1D00C17B-FBEF-D625-E759-034848353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" y="1068"/>
              <a:ext cx="11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800">
                <a:ea typeface="MS PGothic" panose="020B0600070205080204" pitchFamily="34" charset="-128"/>
              </a:endParaRPr>
            </a:p>
          </p:txBody>
        </p:sp>
        <p:sp>
          <p:nvSpPr>
            <p:cNvPr id="2069" name="Text Box 11">
              <a:extLst>
                <a:ext uri="{FF2B5EF4-FFF2-40B4-BE49-F238E27FC236}">
                  <a16:creationId xmlns:a16="http://schemas.microsoft.com/office/drawing/2014/main" id="{A88F02E7-705A-552C-5F10-78CA8EA2A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" y="1064"/>
              <a:ext cx="7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500">
                  <a:solidFill>
                    <a:srgbClr val="000000"/>
                  </a:solidFill>
                  <a:ea typeface="MS PGothic" panose="020B0600070205080204" pitchFamily="34" charset="-128"/>
                </a:rPr>
                <a:t>Este cartão é de uso exclusivo na área da ArcelorMIttal Tubarão</a:t>
              </a:r>
            </a:p>
          </p:txBody>
        </p:sp>
        <p:sp>
          <p:nvSpPr>
            <p:cNvPr id="2070" name="Rectangle 13">
              <a:extLst>
                <a:ext uri="{FF2B5EF4-FFF2-40B4-BE49-F238E27FC236}">
                  <a16:creationId xmlns:a16="http://schemas.microsoft.com/office/drawing/2014/main" id="{6F51D0AA-6FC6-413B-A20F-B3E1F730B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049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  <p:sp>
          <p:nvSpPr>
            <p:cNvPr id="2071" name="Rectangle 30">
              <a:extLst>
                <a:ext uri="{FF2B5EF4-FFF2-40B4-BE49-F238E27FC236}">
                  <a16:creationId xmlns:a16="http://schemas.microsoft.com/office/drawing/2014/main" id="{600E3B59-BAA3-AB95-4ABB-06A2B316B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" y="68"/>
              <a:ext cx="408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sp>
        <p:nvSpPr>
          <p:cNvPr id="2055" name="Retângulo 3">
            <a:extLst>
              <a:ext uri="{FF2B5EF4-FFF2-40B4-BE49-F238E27FC236}">
                <a16:creationId xmlns:a16="http://schemas.microsoft.com/office/drawing/2014/main" id="{C73B6B10-0605-ED71-8F85-EACDD989B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8361363"/>
            <a:ext cx="184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</p:txBody>
      </p:sp>
      <p:sp>
        <p:nvSpPr>
          <p:cNvPr id="46" name="Retângulo de cantos arredondados 45">
            <a:extLst>
              <a:ext uri="{FF2B5EF4-FFF2-40B4-BE49-F238E27FC236}">
                <a16:creationId xmlns:a16="http://schemas.microsoft.com/office/drawing/2014/main" id="{470FF6CC-1001-1574-84B0-7B1BD1434F00}"/>
              </a:ext>
            </a:extLst>
          </p:cNvPr>
          <p:cNvSpPr/>
          <p:nvPr/>
        </p:nvSpPr>
        <p:spPr>
          <a:xfrm>
            <a:off x="1484313" y="3563938"/>
            <a:ext cx="2289175" cy="35401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MATRICULA: </a:t>
            </a: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12240721707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8" name="Retângulo de cantos arredondados 47">
            <a:extLst>
              <a:ext uri="{FF2B5EF4-FFF2-40B4-BE49-F238E27FC236}">
                <a16:creationId xmlns:a16="http://schemas.microsoft.com/office/drawing/2014/main" id="{4852FBDD-3DB1-D7D9-213B-2A42E9D900AD}"/>
              </a:ext>
            </a:extLst>
          </p:cNvPr>
          <p:cNvSpPr/>
          <p:nvPr/>
        </p:nvSpPr>
        <p:spPr>
          <a:xfrm>
            <a:off x="1448765" y="8108440"/>
            <a:ext cx="2289175" cy="279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MATRICULA: </a:t>
            </a: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22927112738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3" name="Retângulo de cantos arredondados 52">
            <a:extLst>
              <a:ext uri="{FF2B5EF4-FFF2-40B4-BE49-F238E27FC236}">
                <a16:creationId xmlns:a16="http://schemas.microsoft.com/office/drawing/2014/main" id="{30C4ADEC-7D9F-6DB5-D7EB-1C4187829FD6}"/>
              </a:ext>
            </a:extLst>
          </p:cNvPr>
          <p:cNvSpPr/>
          <p:nvPr/>
        </p:nvSpPr>
        <p:spPr>
          <a:xfrm>
            <a:off x="1427163" y="827088"/>
            <a:ext cx="2289175" cy="3540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>NOME</a:t>
            </a:r>
            <a:r>
              <a:rPr lang="pt-BR" sz="900" b="1" dirty="0" smtClean="0">
                <a:solidFill>
                  <a:schemeClr val="tx1"/>
                </a:solidFill>
                <a:cs typeface="Arial" pitchFamily="34" charset="0"/>
              </a:rPr>
              <a:t>: </a:t>
            </a:r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>HERKTON DINIZ SANTOS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4" name="Retângulo de cantos arredondados 53">
            <a:extLst>
              <a:ext uri="{FF2B5EF4-FFF2-40B4-BE49-F238E27FC236}">
                <a16:creationId xmlns:a16="http://schemas.microsoft.com/office/drawing/2014/main" id="{10639759-E8A8-D8D6-2E56-FEC304BBF920}"/>
              </a:ext>
            </a:extLst>
          </p:cNvPr>
          <p:cNvSpPr/>
          <p:nvPr/>
        </p:nvSpPr>
        <p:spPr>
          <a:xfrm>
            <a:off x="1427857" y="1296988"/>
            <a:ext cx="2289175" cy="35242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MATRICULA: </a:t>
            </a: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10442439709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061" name="Text Box 19">
            <a:extLst>
              <a:ext uri="{FF2B5EF4-FFF2-40B4-BE49-F238E27FC236}">
                <a16:creationId xmlns:a16="http://schemas.microsoft.com/office/drawing/2014/main" id="{0FE57F32-FC60-D299-DA14-08260B5DD64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441450" y="5484813"/>
            <a:ext cx="2033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900" b="1" dirty="0">
                <a:solidFill>
                  <a:srgbClr val="000000"/>
                </a:solidFill>
                <a:ea typeface="MS PGothic" panose="020B0600070205080204" pitchFamily="34" charset="-128"/>
              </a:rPr>
              <a:t>Nome: </a:t>
            </a:r>
            <a:r>
              <a:rPr lang="pt-BR" altLang="pt-BR" sz="900" b="1" dirty="0">
                <a:solidFill>
                  <a:srgbClr val="000000"/>
                </a:solidFill>
                <a:ea typeface="MS PGothic" panose="020B0600070205080204" pitchFamily="34" charset="-128"/>
              </a:rPr>
              <a:t>FABRICIO DA SILVA ANTONIO</a:t>
            </a:r>
            <a:endParaRPr lang="pt-BR" altLang="pt-BR" sz="800" b="1" dirty="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51" name="Retângulo de cantos arredondados 45">
            <a:extLst>
              <a:ext uri="{FF2B5EF4-FFF2-40B4-BE49-F238E27FC236}">
                <a16:creationId xmlns:a16="http://schemas.microsoft.com/office/drawing/2014/main" id="{997CACA3-2EDF-8E1A-F485-7A66DD8B456C}"/>
              </a:ext>
            </a:extLst>
          </p:cNvPr>
          <p:cNvSpPr/>
          <p:nvPr/>
        </p:nvSpPr>
        <p:spPr>
          <a:xfrm>
            <a:off x="1441450" y="5967413"/>
            <a:ext cx="2289175" cy="35401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MATRICULA: </a:t>
            </a: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09586096750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pic>
        <p:nvPicPr>
          <p:cNvPr id="40" name="Imagem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27" y="2476554"/>
            <a:ext cx="739551" cy="292099"/>
          </a:xfrm>
          <a:prstGeom prst="rect">
            <a:avLst/>
          </a:prstGeom>
        </p:spPr>
      </p:pic>
      <p:pic>
        <p:nvPicPr>
          <p:cNvPr id="41" name="Imagem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477" y="4759380"/>
            <a:ext cx="839898" cy="331733"/>
          </a:xfrm>
          <a:prstGeom prst="rect">
            <a:avLst/>
          </a:prstGeom>
        </p:spPr>
      </p:pic>
      <p:pic>
        <p:nvPicPr>
          <p:cNvPr id="42" name="Imagem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824" y="190556"/>
            <a:ext cx="739551" cy="292099"/>
          </a:xfrm>
          <a:prstGeom prst="rect">
            <a:avLst/>
          </a:prstGeom>
        </p:spPr>
      </p:pic>
      <p:pic>
        <p:nvPicPr>
          <p:cNvPr id="43" name="Imagem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308" y="2476554"/>
            <a:ext cx="811643" cy="292099"/>
          </a:xfrm>
          <a:prstGeom prst="rect">
            <a:avLst/>
          </a:prstGeom>
        </p:spPr>
      </p:pic>
      <p:pic>
        <p:nvPicPr>
          <p:cNvPr id="44" name="Imagem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053" y="7077590"/>
            <a:ext cx="839898" cy="331733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53" y="753365"/>
            <a:ext cx="907087" cy="1214101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712" y="3001353"/>
            <a:ext cx="892727" cy="1199602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30" y="5376389"/>
            <a:ext cx="836243" cy="106781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530" y="7666236"/>
            <a:ext cx="760039" cy="11400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4">
            <a:extLst>
              <a:ext uri="{FF2B5EF4-FFF2-40B4-BE49-F238E27FC236}">
                <a16:creationId xmlns:a16="http://schemas.microsoft.com/office/drawing/2014/main" id="{87A20DAD-8159-3608-9E02-CD67FAED39F7}"/>
              </a:ext>
            </a:extLst>
          </p:cNvPr>
          <p:cNvGrpSpPr>
            <a:grpSpLocks/>
          </p:cNvGrpSpPr>
          <p:nvPr/>
        </p:nvGrpSpPr>
        <p:grpSpPr bwMode="auto">
          <a:xfrm>
            <a:off x="257174" y="2316163"/>
            <a:ext cx="6340475" cy="2051050"/>
            <a:chOff x="1048" y="1655"/>
            <a:chExt cx="3994" cy="1292"/>
          </a:xfrm>
        </p:grpSpPr>
        <p:grpSp>
          <p:nvGrpSpPr>
            <p:cNvPr id="2084" name="Group 15">
              <a:extLst>
                <a:ext uri="{FF2B5EF4-FFF2-40B4-BE49-F238E27FC236}">
                  <a16:creationId xmlns:a16="http://schemas.microsoft.com/office/drawing/2014/main" id="{E11A9F78-EE26-B358-9954-8A4799B01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" y="1655"/>
              <a:ext cx="3994" cy="1292"/>
              <a:chOff x="1048" y="1655"/>
              <a:chExt cx="3994" cy="1292"/>
            </a:xfrm>
          </p:grpSpPr>
          <p:grpSp>
            <p:nvGrpSpPr>
              <p:cNvPr id="2086" name="Group 16">
                <a:extLst>
                  <a:ext uri="{FF2B5EF4-FFF2-40B4-BE49-F238E27FC236}">
                    <a16:creationId xmlns:a16="http://schemas.microsoft.com/office/drawing/2014/main" id="{3706F397-816E-2697-10BB-9AFE277D3EB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048" y="1655"/>
                <a:ext cx="3994" cy="1292"/>
                <a:chOff x="544" y="1712"/>
                <a:chExt cx="4537" cy="1587"/>
              </a:xfrm>
            </p:grpSpPr>
            <p:pic>
              <p:nvPicPr>
                <p:cNvPr id="2090" name="Picture 17" descr="Cartao_autorizacao empresa contratada (1)">
                  <a:extLst>
                    <a:ext uri="{FF2B5EF4-FFF2-40B4-BE49-F238E27FC236}">
                      <a16:creationId xmlns:a16="http://schemas.microsoft.com/office/drawing/2014/main" id="{1F242285-5834-C1E9-F000-BCAE581AC56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4" y="1712"/>
                  <a:ext cx="4537" cy="15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91" name="Text Box 19">
                  <a:extLst>
                    <a:ext uri="{FF2B5EF4-FFF2-40B4-BE49-F238E27FC236}">
                      <a16:creationId xmlns:a16="http://schemas.microsoft.com/office/drawing/2014/main" id="{04A2D5BA-36E1-FEBA-FC34-93B6BB9FDD57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462" y="2352"/>
                  <a:ext cx="1455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r>
                    <a:rPr lang="pt-BR" altLang="pt-BR" sz="9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Nome: </a:t>
                  </a:r>
                  <a:r>
                    <a:rPr lang="pt-BR" altLang="pt-BR" sz="8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JOAO PAULO CORREA SENHORINH</a:t>
                  </a:r>
                  <a:r>
                    <a:rPr lang="pt-BR" altLang="pt-BR" sz="9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O</a:t>
                  </a:r>
                  <a:endParaRPr lang="pt-BR" altLang="pt-BR" sz="800" b="1" dirty="0">
                    <a:solidFill>
                      <a:srgbClr val="000000"/>
                    </a:solidFill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2087" name="Text Box 20">
                <a:extLst>
                  <a:ext uri="{FF2B5EF4-FFF2-40B4-BE49-F238E27FC236}">
                    <a16:creationId xmlns:a16="http://schemas.microsoft.com/office/drawing/2014/main" id="{6CAA846F-5C89-394C-F213-2AF6EFD58B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6" y="2723"/>
                <a:ext cx="11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pt-BR" altLang="pt-BR" sz="800">
                  <a:ea typeface="MS PGothic" panose="020B0600070205080204" pitchFamily="34" charset="-128"/>
                </a:endParaRPr>
              </a:p>
            </p:txBody>
          </p:sp>
          <p:sp>
            <p:nvSpPr>
              <p:cNvPr id="2088" name="Text Box 21">
                <a:extLst>
                  <a:ext uri="{FF2B5EF4-FFF2-40B4-BE49-F238E27FC236}">
                    <a16:creationId xmlns:a16="http://schemas.microsoft.com/office/drawing/2014/main" id="{C793A03D-C72F-868F-DA40-C8FB95ABE9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4" y="2719"/>
                <a:ext cx="717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500">
                    <a:solidFill>
                      <a:srgbClr val="000000"/>
                    </a:solidFill>
                    <a:ea typeface="MS PGothic" panose="020B0600070205080204" pitchFamily="34" charset="-128"/>
                  </a:rPr>
                  <a:t>Este cartão é de uso exclusivo na área da ArcelorMIttal Tubarão</a:t>
                </a:r>
              </a:p>
            </p:txBody>
          </p:sp>
          <p:sp>
            <p:nvSpPr>
              <p:cNvPr id="2089" name="Rectangle 22">
                <a:extLst>
                  <a:ext uri="{FF2B5EF4-FFF2-40B4-BE49-F238E27FC236}">
                    <a16:creationId xmlns:a16="http://schemas.microsoft.com/office/drawing/2014/main" id="{F297CF9F-C536-D598-7AB1-68914D57F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2" y="1712"/>
                <a:ext cx="456" cy="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800"/>
              </a:p>
            </p:txBody>
          </p:sp>
        </p:grpSp>
        <p:sp>
          <p:nvSpPr>
            <p:cNvPr id="2085" name="Rectangle 23">
              <a:extLst>
                <a:ext uri="{FF2B5EF4-FFF2-40B4-BE49-F238E27FC236}">
                  <a16:creationId xmlns:a16="http://schemas.microsoft.com/office/drawing/2014/main" id="{0744B21F-060A-99B5-DFFF-95E4169B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2" y="2704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grpSp>
        <p:nvGrpSpPr>
          <p:cNvPr id="2051" name="Group 22">
            <a:extLst>
              <a:ext uri="{FF2B5EF4-FFF2-40B4-BE49-F238E27FC236}">
                <a16:creationId xmlns:a16="http://schemas.microsoft.com/office/drawing/2014/main" id="{5E0E5BE1-D494-9B6D-FFDF-FD6A0E8B1B32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73025"/>
            <a:ext cx="6340475" cy="2051050"/>
            <a:chOff x="0" y="0"/>
            <a:chExt cx="3994" cy="1292"/>
          </a:xfrm>
        </p:grpSpPr>
        <p:pic>
          <p:nvPicPr>
            <p:cNvPr id="2080" name="Picture 7" descr="Cartao_autorizacao empresa contratada (1)">
              <a:extLst>
                <a:ext uri="{FF2B5EF4-FFF2-40B4-BE49-F238E27FC236}">
                  <a16:creationId xmlns:a16="http://schemas.microsoft.com/office/drawing/2014/main" id="{C802A1C4-7E5A-AD81-621D-22AFEFDF9B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994" cy="1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81" name="Text Box 10">
              <a:extLst>
                <a:ext uri="{FF2B5EF4-FFF2-40B4-BE49-F238E27FC236}">
                  <a16:creationId xmlns:a16="http://schemas.microsoft.com/office/drawing/2014/main" id="{97959D44-06C6-1FBE-4AEC-2CB67B6DEE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" y="1068"/>
              <a:ext cx="11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800">
                <a:ea typeface="MS PGothic" panose="020B0600070205080204" pitchFamily="34" charset="-128"/>
              </a:endParaRPr>
            </a:p>
          </p:txBody>
        </p:sp>
        <p:sp>
          <p:nvSpPr>
            <p:cNvPr id="2082" name="Text Box 11">
              <a:extLst>
                <a:ext uri="{FF2B5EF4-FFF2-40B4-BE49-F238E27FC236}">
                  <a16:creationId xmlns:a16="http://schemas.microsoft.com/office/drawing/2014/main" id="{4C6FAC2F-78EE-C75B-2743-D2D6A4D49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" y="1064"/>
              <a:ext cx="7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500">
                  <a:solidFill>
                    <a:srgbClr val="000000"/>
                  </a:solidFill>
                  <a:ea typeface="MS PGothic" panose="020B0600070205080204" pitchFamily="34" charset="-128"/>
                </a:rPr>
                <a:t>Este cartão é de uso exclusivo na área da ArcelorMIttal Tubarão</a:t>
              </a:r>
            </a:p>
          </p:txBody>
        </p:sp>
        <p:sp>
          <p:nvSpPr>
            <p:cNvPr id="2083" name="Rectangle 13">
              <a:extLst>
                <a:ext uri="{FF2B5EF4-FFF2-40B4-BE49-F238E27FC236}">
                  <a16:creationId xmlns:a16="http://schemas.microsoft.com/office/drawing/2014/main" id="{835378F3-EDFA-5A3D-8C7D-E87FEC7CE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049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sp>
        <p:nvSpPr>
          <p:cNvPr id="2052" name="Retângulo 3">
            <a:extLst>
              <a:ext uri="{FF2B5EF4-FFF2-40B4-BE49-F238E27FC236}">
                <a16:creationId xmlns:a16="http://schemas.microsoft.com/office/drawing/2014/main" id="{463EEEB3-340F-6F28-79EB-D4213940A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3790950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</p:txBody>
      </p:sp>
      <p:grpSp>
        <p:nvGrpSpPr>
          <p:cNvPr id="2053" name="Group 14">
            <a:extLst>
              <a:ext uri="{FF2B5EF4-FFF2-40B4-BE49-F238E27FC236}">
                <a16:creationId xmlns:a16="http://schemas.microsoft.com/office/drawing/2014/main" id="{E95A31A5-A09F-2F28-96C1-60EAECAC3447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6946900"/>
            <a:ext cx="6340475" cy="2051050"/>
            <a:chOff x="1048" y="1655"/>
            <a:chExt cx="3994" cy="1292"/>
          </a:xfrm>
        </p:grpSpPr>
        <p:grpSp>
          <p:nvGrpSpPr>
            <p:cNvPr id="2072" name="Group 15">
              <a:extLst>
                <a:ext uri="{FF2B5EF4-FFF2-40B4-BE49-F238E27FC236}">
                  <a16:creationId xmlns:a16="http://schemas.microsoft.com/office/drawing/2014/main" id="{85BCA71A-ABAE-67B9-CDA6-B13FCD9C01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" y="1655"/>
              <a:ext cx="3994" cy="1292"/>
              <a:chOff x="1048" y="1655"/>
              <a:chExt cx="3994" cy="1292"/>
            </a:xfrm>
          </p:grpSpPr>
          <p:grpSp>
            <p:nvGrpSpPr>
              <p:cNvPr id="2074" name="Group 16">
                <a:extLst>
                  <a:ext uri="{FF2B5EF4-FFF2-40B4-BE49-F238E27FC236}">
                    <a16:creationId xmlns:a16="http://schemas.microsoft.com/office/drawing/2014/main" id="{349598CC-5189-6720-D407-F8A992C2C6B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048" y="1655"/>
                <a:ext cx="3994" cy="1292"/>
                <a:chOff x="544" y="1712"/>
                <a:chExt cx="4537" cy="1587"/>
              </a:xfrm>
            </p:grpSpPr>
            <p:pic>
              <p:nvPicPr>
                <p:cNvPr id="2078" name="Picture 17" descr="Cartao_autorizacao empresa contratada (1)">
                  <a:extLst>
                    <a:ext uri="{FF2B5EF4-FFF2-40B4-BE49-F238E27FC236}">
                      <a16:creationId xmlns:a16="http://schemas.microsoft.com/office/drawing/2014/main" id="{BEA78897-9342-F1A3-F3B1-3CAD415A325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4" y="1712"/>
                  <a:ext cx="4537" cy="15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79" name="Text Box 19">
                  <a:extLst>
                    <a:ext uri="{FF2B5EF4-FFF2-40B4-BE49-F238E27FC236}">
                      <a16:creationId xmlns:a16="http://schemas.microsoft.com/office/drawing/2014/main" id="{7323BEAF-0AAE-C903-BC1A-39BAAD995ED6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410" y="2356"/>
                  <a:ext cx="1455" cy="2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r>
                    <a:rPr lang="pt-BR" altLang="pt-BR" sz="9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Nome: </a:t>
                  </a:r>
                  <a:r>
                    <a:rPr lang="pt-BR" altLang="pt-BR" sz="8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JOAO VITOR COELHO DA SILVA CARVALHO</a:t>
                  </a:r>
                  <a:endParaRPr lang="pt-BR" altLang="pt-BR" sz="800" b="1" dirty="0">
                    <a:solidFill>
                      <a:srgbClr val="000000"/>
                    </a:solidFill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2075" name="Text Box 20">
                <a:extLst>
                  <a:ext uri="{FF2B5EF4-FFF2-40B4-BE49-F238E27FC236}">
                    <a16:creationId xmlns:a16="http://schemas.microsoft.com/office/drawing/2014/main" id="{A6196DB2-B5B8-1EB1-D01C-EBD787FA4C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6" y="2723"/>
                <a:ext cx="11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pt-BR" altLang="pt-BR" sz="800">
                  <a:ea typeface="MS PGothic" panose="020B0600070205080204" pitchFamily="34" charset="-128"/>
                </a:endParaRPr>
              </a:p>
            </p:txBody>
          </p:sp>
          <p:sp>
            <p:nvSpPr>
              <p:cNvPr id="2076" name="Text Box 21">
                <a:extLst>
                  <a:ext uri="{FF2B5EF4-FFF2-40B4-BE49-F238E27FC236}">
                    <a16:creationId xmlns:a16="http://schemas.microsoft.com/office/drawing/2014/main" id="{CC27A73F-9198-F004-6D2C-50B8F15E37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4" y="2719"/>
                <a:ext cx="717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500">
                    <a:solidFill>
                      <a:srgbClr val="000000"/>
                    </a:solidFill>
                    <a:ea typeface="MS PGothic" panose="020B0600070205080204" pitchFamily="34" charset="-128"/>
                  </a:rPr>
                  <a:t>Este cartão é de uso exclusivo na área da ArcelorMIttal Tubarão</a:t>
                </a:r>
              </a:p>
            </p:txBody>
          </p:sp>
          <p:sp>
            <p:nvSpPr>
              <p:cNvPr id="2077" name="Rectangle 22">
                <a:extLst>
                  <a:ext uri="{FF2B5EF4-FFF2-40B4-BE49-F238E27FC236}">
                    <a16:creationId xmlns:a16="http://schemas.microsoft.com/office/drawing/2014/main" id="{E1AEAAF6-6A8F-64D3-B27C-45E5F58067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2" y="1712"/>
                <a:ext cx="456" cy="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800"/>
              </a:p>
            </p:txBody>
          </p:sp>
        </p:grpSp>
        <p:sp>
          <p:nvSpPr>
            <p:cNvPr id="2073" name="Rectangle 23">
              <a:extLst>
                <a:ext uri="{FF2B5EF4-FFF2-40B4-BE49-F238E27FC236}">
                  <a16:creationId xmlns:a16="http://schemas.microsoft.com/office/drawing/2014/main" id="{55030A56-CE61-CEF3-E15D-3A6E78CB9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2" y="2704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grpSp>
        <p:nvGrpSpPr>
          <p:cNvPr id="2054" name="Group 22">
            <a:extLst>
              <a:ext uri="{FF2B5EF4-FFF2-40B4-BE49-F238E27FC236}">
                <a16:creationId xmlns:a16="http://schemas.microsoft.com/office/drawing/2014/main" id="{5C0E1AB1-B899-54C0-E92F-D4E792B89559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4643438"/>
            <a:ext cx="6340475" cy="2051050"/>
            <a:chOff x="0" y="0"/>
            <a:chExt cx="3994" cy="1292"/>
          </a:xfrm>
        </p:grpSpPr>
        <p:pic>
          <p:nvPicPr>
            <p:cNvPr id="2067" name="Picture 7" descr="Cartao_autorizacao empresa contratada (1)">
              <a:extLst>
                <a:ext uri="{FF2B5EF4-FFF2-40B4-BE49-F238E27FC236}">
                  <a16:creationId xmlns:a16="http://schemas.microsoft.com/office/drawing/2014/main" id="{EA21AF8D-E51E-9DF9-222E-24D2D5FF4C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994" cy="1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68" name="Text Box 10">
              <a:extLst>
                <a:ext uri="{FF2B5EF4-FFF2-40B4-BE49-F238E27FC236}">
                  <a16:creationId xmlns:a16="http://schemas.microsoft.com/office/drawing/2014/main" id="{1D00C17B-FBEF-D625-E759-034848353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" y="1068"/>
              <a:ext cx="11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800">
                <a:ea typeface="MS PGothic" panose="020B0600070205080204" pitchFamily="34" charset="-128"/>
              </a:endParaRPr>
            </a:p>
          </p:txBody>
        </p:sp>
        <p:sp>
          <p:nvSpPr>
            <p:cNvPr id="2069" name="Text Box 11">
              <a:extLst>
                <a:ext uri="{FF2B5EF4-FFF2-40B4-BE49-F238E27FC236}">
                  <a16:creationId xmlns:a16="http://schemas.microsoft.com/office/drawing/2014/main" id="{A88F02E7-705A-552C-5F10-78CA8EA2A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" y="1064"/>
              <a:ext cx="7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500">
                  <a:solidFill>
                    <a:srgbClr val="000000"/>
                  </a:solidFill>
                  <a:ea typeface="MS PGothic" panose="020B0600070205080204" pitchFamily="34" charset="-128"/>
                </a:rPr>
                <a:t>Este cartão é de uso exclusivo na área da ArcelorMIttal Tubarão</a:t>
              </a:r>
            </a:p>
          </p:txBody>
        </p:sp>
        <p:sp>
          <p:nvSpPr>
            <p:cNvPr id="2070" name="Rectangle 13">
              <a:extLst>
                <a:ext uri="{FF2B5EF4-FFF2-40B4-BE49-F238E27FC236}">
                  <a16:creationId xmlns:a16="http://schemas.microsoft.com/office/drawing/2014/main" id="{6F51D0AA-6FC6-413B-A20F-B3E1F730B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049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  <p:sp>
          <p:nvSpPr>
            <p:cNvPr id="2071" name="Rectangle 30">
              <a:extLst>
                <a:ext uri="{FF2B5EF4-FFF2-40B4-BE49-F238E27FC236}">
                  <a16:creationId xmlns:a16="http://schemas.microsoft.com/office/drawing/2014/main" id="{600E3B59-BAA3-AB95-4ABB-06A2B316B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" y="68"/>
              <a:ext cx="408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sp>
        <p:nvSpPr>
          <p:cNvPr id="2055" name="Retângulo 3">
            <a:extLst>
              <a:ext uri="{FF2B5EF4-FFF2-40B4-BE49-F238E27FC236}">
                <a16:creationId xmlns:a16="http://schemas.microsoft.com/office/drawing/2014/main" id="{C73B6B10-0605-ED71-8F85-EACDD989B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8361363"/>
            <a:ext cx="184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</p:txBody>
      </p:sp>
      <p:sp>
        <p:nvSpPr>
          <p:cNvPr id="46" name="Retângulo de cantos arredondados 45">
            <a:extLst>
              <a:ext uri="{FF2B5EF4-FFF2-40B4-BE49-F238E27FC236}">
                <a16:creationId xmlns:a16="http://schemas.microsoft.com/office/drawing/2014/main" id="{470FF6CC-1001-1574-84B0-7B1BD1434F00}"/>
              </a:ext>
            </a:extLst>
          </p:cNvPr>
          <p:cNvSpPr/>
          <p:nvPr/>
        </p:nvSpPr>
        <p:spPr>
          <a:xfrm>
            <a:off x="1484313" y="3563938"/>
            <a:ext cx="2289175" cy="35401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MATRICULA: 19773649776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8" name="Retângulo de cantos arredondados 47">
            <a:extLst>
              <a:ext uri="{FF2B5EF4-FFF2-40B4-BE49-F238E27FC236}">
                <a16:creationId xmlns:a16="http://schemas.microsoft.com/office/drawing/2014/main" id="{4852FBDD-3DB1-D7D9-213B-2A42E9D900AD}"/>
              </a:ext>
            </a:extLst>
          </p:cNvPr>
          <p:cNvSpPr/>
          <p:nvPr/>
        </p:nvSpPr>
        <p:spPr>
          <a:xfrm>
            <a:off x="1484312" y="8277909"/>
            <a:ext cx="2289175" cy="279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MATRICULA: </a:t>
            </a: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15819031709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3" name="Retângulo de cantos arredondados 52">
            <a:extLst>
              <a:ext uri="{FF2B5EF4-FFF2-40B4-BE49-F238E27FC236}">
                <a16:creationId xmlns:a16="http://schemas.microsoft.com/office/drawing/2014/main" id="{30C4ADEC-7D9F-6DB5-D7EB-1C4187829FD6}"/>
              </a:ext>
            </a:extLst>
          </p:cNvPr>
          <p:cNvSpPr/>
          <p:nvPr/>
        </p:nvSpPr>
        <p:spPr>
          <a:xfrm>
            <a:off x="1427163" y="827088"/>
            <a:ext cx="2289175" cy="3540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NOME</a:t>
            </a:r>
            <a:r>
              <a:rPr lang="pt-BR" sz="800" b="1" dirty="0" smtClean="0">
                <a:solidFill>
                  <a:schemeClr val="tx1"/>
                </a:solidFill>
                <a:cs typeface="Arial" pitchFamily="34" charset="0"/>
              </a:rPr>
              <a:t>: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4" name="Retângulo de cantos arredondados 53">
            <a:extLst>
              <a:ext uri="{FF2B5EF4-FFF2-40B4-BE49-F238E27FC236}">
                <a16:creationId xmlns:a16="http://schemas.microsoft.com/office/drawing/2014/main" id="{10639759-E8A8-D8D6-2E56-FEC304BBF920}"/>
              </a:ext>
            </a:extLst>
          </p:cNvPr>
          <p:cNvSpPr/>
          <p:nvPr/>
        </p:nvSpPr>
        <p:spPr>
          <a:xfrm>
            <a:off x="1427857" y="1296988"/>
            <a:ext cx="2289175" cy="35242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</a:t>
            </a:r>
            <a:r>
              <a:rPr lang="pt-BR" sz="800" b="1" dirty="0" smtClean="0">
                <a:solidFill>
                  <a:schemeClr val="tx1"/>
                </a:solidFill>
                <a:cs typeface="Arial" pitchFamily="34" charset="0"/>
              </a:rPr>
              <a:t>: </a:t>
            </a:r>
            <a:r>
              <a:rPr lang="pt-BR" sz="900" dirty="0">
                <a:solidFill>
                  <a:schemeClr val="tx1"/>
                </a:solidFill>
              </a:rPr>
              <a:t>70132975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061" name="Text Box 19">
            <a:extLst>
              <a:ext uri="{FF2B5EF4-FFF2-40B4-BE49-F238E27FC236}">
                <a16:creationId xmlns:a16="http://schemas.microsoft.com/office/drawing/2014/main" id="{0FE57F32-FC60-D299-DA14-08260B5DD64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441450" y="5484813"/>
            <a:ext cx="2033588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900" b="1" dirty="0">
                <a:solidFill>
                  <a:srgbClr val="000000"/>
                </a:solidFill>
                <a:ea typeface="MS PGothic" panose="020B0600070205080204" pitchFamily="34" charset="-128"/>
              </a:rPr>
              <a:t>Nome: </a:t>
            </a:r>
            <a:r>
              <a:rPr lang="pt-BR" altLang="pt-BR" sz="800" b="1" dirty="0">
                <a:solidFill>
                  <a:srgbClr val="000000"/>
                </a:solidFill>
                <a:ea typeface="MS PGothic" panose="020B0600070205080204" pitchFamily="34" charset="-128"/>
              </a:rPr>
              <a:t>EDUARDO DE CARVALHO RAMOS</a:t>
            </a:r>
            <a:endParaRPr lang="pt-BR" altLang="pt-BR" sz="800" b="1" dirty="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51" name="Retângulo de cantos arredondados 45">
            <a:extLst>
              <a:ext uri="{FF2B5EF4-FFF2-40B4-BE49-F238E27FC236}">
                <a16:creationId xmlns:a16="http://schemas.microsoft.com/office/drawing/2014/main" id="{997CACA3-2EDF-8E1A-F485-7A66DD8B456C}"/>
              </a:ext>
            </a:extLst>
          </p:cNvPr>
          <p:cNvSpPr/>
          <p:nvPr/>
        </p:nvSpPr>
        <p:spPr>
          <a:xfrm>
            <a:off x="1409214" y="5968541"/>
            <a:ext cx="2289175" cy="35401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MATRICULA: </a:t>
            </a: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17242721792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pic>
        <p:nvPicPr>
          <p:cNvPr id="40" name="Imagem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27" y="2476554"/>
            <a:ext cx="739551" cy="292099"/>
          </a:xfrm>
          <a:prstGeom prst="rect">
            <a:avLst/>
          </a:prstGeom>
        </p:spPr>
      </p:pic>
      <p:pic>
        <p:nvPicPr>
          <p:cNvPr id="41" name="Imagem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477" y="4759380"/>
            <a:ext cx="839898" cy="331733"/>
          </a:xfrm>
          <a:prstGeom prst="rect">
            <a:avLst/>
          </a:prstGeom>
        </p:spPr>
      </p:pic>
      <p:pic>
        <p:nvPicPr>
          <p:cNvPr id="42" name="Imagem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824" y="190556"/>
            <a:ext cx="739551" cy="292099"/>
          </a:xfrm>
          <a:prstGeom prst="rect">
            <a:avLst/>
          </a:prstGeom>
        </p:spPr>
      </p:pic>
      <p:pic>
        <p:nvPicPr>
          <p:cNvPr id="43" name="Imagem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308" y="2476554"/>
            <a:ext cx="811643" cy="292099"/>
          </a:xfrm>
          <a:prstGeom prst="rect">
            <a:avLst/>
          </a:prstGeom>
        </p:spPr>
      </p:pic>
      <p:pic>
        <p:nvPicPr>
          <p:cNvPr id="44" name="Imagem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053" y="7077590"/>
            <a:ext cx="839898" cy="331733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40" y="2977304"/>
            <a:ext cx="982920" cy="1214195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30" y="755576"/>
            <a:ext cx="890488" cy="1157903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853103" y="877778"/>
            <a:ext cx="150714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800" dirty="0"/>
              <a:t>WANCLER ALVES POUBEL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276" y="5328945"/>
            <a:ext cx="862641" cy="1226568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438" y="7676587"/>
            <a:ext cx="730169" cy="113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881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4">
            <a:extLst>
              <a:ext uri="{FF2B5EF4-FFF2-40B4-BE49-F238E27FC236}">
                <a16:creationId xmlns:a16="http://schemas.microsoft.com/office/drawing/2014/main" id="{87A20DAD-8159-3608-9E02-CD67FAED39F7}"/>
              </a:ext>
            </a:extLst>
          </p:cNvPr>
          <p:cNvGrpSpPr>
            <a:grpSpLocks/>
          </p:cNvGrpSpPr>
          <p:nvPr/>
        </p:nvGrpSpPr>
        <p:grpSpPr bwMode="auto">
          <a:xfrm>
            <a:off x="257174" y="2316163"/>
            <a:ext cx="6340475" cy="2051050"/>
            <a:chOff x="1048" y="1655"/>
            <a:chExt cx="3994" cy="1292"/>
          </a:xfrm>
        </p:grpSpPr>
        <p:grpSp>
          <p:nvGrpSpPr>
            <p:cNvPr id="2084" name="Group 15">
              <a:extLst>
                <a:ext uri="{FF2B5EF4-FFF2-40B4-BE49-F238E27FC236}">
                  <a16:creationId xmlns:a16="http://schemas.microsoft.com/office/drawing/2014/main" id="{E11A9F78-EE26-B358-9954-8A4799B01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" y="1655"/>
              <a:ext cx="3994" cy="1292"/>
              <a:chOff x="1048" y="1655"/>
              <a:chExt cx="3994" cy="1292"/>
            </a:xfrm>
          </p:grpSpPr>
          <p:grpSp>
            <p:nvGrpSpPr>
              <p:cNvPr id="2086" name="Group 16">
                <a:extLst>
                  <a:ext uri="{FF2B5EF4-FFF2-40B4-BE49-F238E27FC236}">
                    <a16:creationId xmlns:a16="http://schemas.microsoft.com/office/drawing/2014/main" id="{3706F397-816E-2697-10BB-9AFE277D3EB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048" y="1655"/>
                <a:ext cx="3994" cy="1292"/>
                <a:chOff x="544" y="1712"/>
                <a:chExt cx="4537" cy="1587"/>
              </a:xfrm>
            </p:grpSpPr>
            <p:pic>
              <p:nvPicPr>
                <p:cNvPr id="2090" name="Picture 17" descr="Cartao_autorizacao empresa contratada (1)">
                  <a:extLst>
                    <a:ext uri="{FF2B5EF4-FFF2-40B4-BE49-F238E27FC236}">
                      <a16:creationId xmlns:a16="http://schemas.microsoft.com/office/drawing/2014/main" id="{1F242285-5834-C1E9-F000-BCAE581AC56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4" y="1712"/>
                  <a:ext cx="4537" cy="15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91" name="Text Box 19">
                  <a:extLst>
                    <a:ext uri="{FF2B5EF4-FFF2-40B4-BE49-F238E27FC236}">
                      <a16:creationId xmlns:a16="http://schemas.microsoft.com/office/drawing/2014/main" id="{04A2D5BA-36E1-FEBA-FC34-93B6BB9FDD57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462" y="2352"/>
                  <a:ext cx="1455" cy="2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r>
                    <a:rPr lang="pt-BR" altLang="pt-BR" sz="9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Nome</a:t>
                  </a:r>
                  <a:r>
                    <a:rPr lang="pt-BR" altLang="pt-BR" sz="9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: </a:t>
                  </a:r>
                  <a:r>
                    <a:rPr lang="pt-BR" altLang="pt-BR" sz="8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CARLOS EDUARDO MOURA DA SILVA </a:t>
                  </a:r>
                  <a:endParaRPr lang="pt-BR" altLang="pt-BR" sz="800" b="1" dirty="0">
                    <a:solidFill>
                      <a:srgbClr val="000000"/>
                    </a:solidFill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2087" name="Text Box 20">
                <a:extLst>
                  <a:ext uri="{FF2B5EF4-FFF2-40B4-BE49-F238E27FC236}">
                    <a16:creationId xmlns:a16="http://schemas.microsoft.com/office/drawing/2014/main" id="{6CAA846F-5C89-394C-F213-2AF6EFD58B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6" y="2723"/>
                <a:ext cx="11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pt-BR" altLang="pt-BR" sz="800">
                  <a:ea typeface="MS PGothic" panose="020B0600070205080204" pitchFamily="34" charset="-128"/>
                </a:endParaRPr>
              </a:p>
            </p:txBody>
          </p:sp>
          <p:sp>
            <p:nvSpPr>
              <p:cNvPr id="2088" name="Text Box 21">
                <a:extLst>
                  <a:ext uri="{FF2B5EF4-FFF2-40B4-BE49-F238E27FC236}">
                    <a16:creationId xmlns:a16="http://schemas.microsoft.com/office/drawing/2014/main" id="{C793A03D-C72F-868F-DA40-C8FB95ABE9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4" y="2719"/>
                <a:ext cx="717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500">
                    <a:solidFill>
                      <a:srgbClr val="000000"/>
                    </a:solidFill>
                    <a:ea typeface="MS PGothic" panose="020B0600070205080204" pitchFamily="34" charset="-128"/>
                  </a:rPr>
                  <a:t>Este cartão é de uso exclusivo na área da ArcelorMIttal Tubarão</a:t>
                </a:r>
              </a:p>
            </p:txBody>
          </p:sp>
          <p:sp>
            <p:nvSpPr>
              <p:cNvPr id="2089" name="Rectangle 22">
                <a:extLst>
                  <a:ext uri="{FF2B5EF4-FFF2-40B4-BE49-F238E27FC236}">
                    <a16:creationId xmlns:a16="http://schemas.microsoft.com/office/drawing/2014/main" id="{F297CF9F-C536-D598-7AB1-68914D57F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2" y="1712"/>
                <a:ext cx="456" cy="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800"/>
              </a:p>
            </p:txBody>
          </p:sp>
        </p:grpSp>
        <p:sp>
          <p:nvSpPr>
            <p:cNvPr id="2085" name="Rectangle 23">
              <a:extLst>
                <a:ext uri="{FF2B5EF4-FFF2-40B4-BE49-F238E27FC236}">
                  <a16:creationId xmlns:a16="http://schemas.microsoft.com/office/drawing/2014/main" id="{0744B21F-060A-99B5-DFFF-95E4169B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2" y="2704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grpSp>
        <p:nvGrpSpPr>
          <p:cNvPr id="2051" name="Group 22">
            <a:extLst>
              <a:ext uri="{FF2B5EF4-FFF2-40B4-BE49-F238E27FC236}">
                <a16:creationId xmlns:a16="http://schemas.microsoft.com/office/drawing/2014/main" id="{5E0E5BE1-D494-9B6D-FFDF-FD6A0E8B1B32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73025"/>
            <a:ext cx="6340475" cy="2051050"/>
            <a:chOff x="0" y="0"/>
            <a:chExt cx="3994" cy="1292"/>
          </a:xfrm>
        </p:grpSpPr>
        <p:pic>
          <p:nvPicPr>
            <p:cNvPr id="2080" name="Picture 7" descr="Cartao_autorizacao empresa contratada (1)">
              <a:extLst>
                <a:ext uri="{FF2B5EF4-FFF2-40B4-BE49-F238E27FC236}">
                  <a16:creationId xmlns:a16="http://schemas.microsoft.com/office/drawing/2014/main" id="{C802A1C4-7E5A-AD81-621D-22AFEFDF9B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994" cy="1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81" name="Text Box 10">
              <a:extLst>
                <a:ext uri="{FF2B5EF4-FFF2-40B4-BE49-F238E27FC236}">
                  <a16:creationId xmlns:a16="http://schemas.microsoft.com/office/drawing/2014/main" id="{97959D44-06C6-1FBE-4AEC-2CB67B6DEE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" y="1068"/>
              <a:ext cx="11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800">
                <a:ea typeface="MS PGothic" panose="020B0600070205080204" pitchFamily="34" charset="-128"/>
              </a:endParaRPr>
            </a:p>
          </p:txBody>
        </p:sp>
        <p:sp>
          <p:nvSpPr>
            <p:cNvPr id="2082" name="Text Box 11">
              <a:extLst>
                <a:ext uri="{FF2B5EF4-FFF2-40B4-BE49-F238E27FC236}">
                  <a16:creationId xmlns:a16="http://schemas.microsoft.com/office/drawing/2014/main" id="{4C6FAC2F-78EE-C75B-2743-D2D6A4D49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" y="1064"/>
              <a:ext cx="7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500">
                  <a:solidFill>
                    <a:srgbClr val="000000"/>
                  </a:solidFill>
                  <a:ea typeface="MS PGothic" panose="020B0600070205080204" pitchFamily="34" charset="-128"/>
                </a:rPr>
                <a:t>Este cartão é de uso exclusivo na área da ArcelorMIttal Tubarão</a:t>
              </a:r>
            </a:p>
          </p:txBody>
        </p:sp>
        <p:sp>
          <p:nvSpPr>
            <p:cNvPr id="2083" name="Rectangle 13">
              <a:extLst>
                <a:ext uri="{FF2B5EF4-FFF2-40B4-BE49-F238E27FC236}">
                  <a16:creationId xmlns:a16="http://schemas.microsoft.com/office/drawing/2014/main" id="{835378F3-EDFA-5A3D-8C7D-E87FEC7CE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049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sp>
        <p:nvSpPr>
          <p:cNvPr id="2052" name="Retângulo 3">
            <a:extLst>
              <a:ext uri="{FF2B5EF4-FFF2-40B4-BE49-F238E27FC236}">
                <a16:creationId xmlns:a16="http://schemas.microsoft.com/office/drawing/2014/main" id="{463EEEB3-340F-6F28-79EB-D4213940A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3790950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</p:txBody>
      </p:sp>
      <p:grpSp>
        <p:nvGrpSpPr>
          <p:cNvPr id="2053" name="Group 14">
            <a:extLst>
              <a:ext uri="{FF2B5EF4-FFF2-40B4-BE49-F238E27FC236}">
                <a16:creationId xmlns:a16="http://schemas.microsoft.com/office/drawing/2014/main" id="{E95A31A5-A09F-2F28-96C1-60EAECAC3447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6946900"/>
            <a:ext cx="6340475" cy="2051050"/>
            <a:chOff x="1048" y="1655"/>
            <a:chExt cx="3994" cy="1292"/>
          </a:xfrm>
        </p:grpSpPr>
        <p:grpSp>
          <p:nvGrpSpPr>
            <p:cNvPr id="2072" name="Group 15">
              <a:extLst>
                <a:ext uri="{FF2B5EF4-FFF2-40B4-BE49-F238E27FC236}">
                  <a16:creationId xmlns:a16="http://schemas.microsoft.com/office/drawing/2014/main" id="{85BCA71A-ABAE-67B9-CDA6-B13FCD9C01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" y="1655"/>
              <a:ext cx="3994" cy="1292"/>
              <a:chOff x="1048" y="1655"/>
              <a:chExt cx="3994" cy="1292"/>
            </a:xfrm>
          </p:grpSpPr>
          <p:grpSp>
            <p:nvGrpSpPr>
              <p:cNvPr id="2074" name="Group 16">
                <a:extLst>
                  <a:ext uri="{FF2B5EF4-FFF2-40B4-BE49-F238E27FC236}">
                    <a16:creationId xmlns:a16="http://schemas.microsoft.com/office/drawing/2014/main" id="{349598CC-5189-6720-D407-F8A992C2C6B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048" y="1655"/>
                <a:ext cx="3994" cy="1292"/>
                <a:chOff x="544" y="1712"/>
                <a:chExt cx="4537" cy="1587"/>
              </a:xfrm>
            </p:grpSpPr>
            <p:pic>
              <p:nvPicPr>
                <p:cNvPr id="2078" name="Picture 17" descr="Cartao_autorizacao empresa contratada (1)">
                  <a:extLst>
                    <a:ext uri="{FF2B5EF4-FFF2-40B4-BE49-F238E27FC236}">
                      <a16:creationId xmlns:a16="http://schemas.microsoft.com/office/drawing/2014/main" id="{BEA78897-9342-F1A3-F3B1-3CAD415A325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4" y="1712"/>
                  <a:ext cx="4537" cy="15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79" name="Text Box 19">
                  <a:extLst>
                    <a:ext uri="{FF2B5EF4-FFF2-40B4-BE49-F238E27FC236}">
                      <a16:creationId xmlns:a16="http://schemas.microsoft.com/office/drawing/2014/main" id="{7323BEAF-0AAE-C903-BC1A-39BAAD995ED6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410" y="2356"/>
                  <a:ext cx="1455" cy="2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r>
                    <a:rPr lang="pt-BR" altLang="pt-BR" sz="9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Nome</a:t>
                  </a:r>
                  <a:r>
                    <a:rPr lang="pt-BR" altLang="pt-BR" sz="9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:</a:t>
                  </a:r>
                  <a:r>
                    <a:rPr lang="pt-BR" altLang="pt-BR" sz="8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 VINICIUS DA CONCEICAO RODRIGUES</a:t>
                  </a:r>
                  <a:endParaRPr lang="pt-BR" altLang="pt-BR" sz="800" b="1" dirty="0">
                    <a:solidFill>
                      <a:srgbClr val="000000"/>
                    </a:solidFill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2075" name="Text Box 20">
                <a:extLst>
                  <a:ext uri="{FF2B5EF4-FFF2-40B4-BE49-F238E27FC236}">
                    <a16:creationId xmlns:a16="http://schemas.microsoft.com/office/drawing/2014/main" id="{A6196DB2-B5B8-1EB1-D01C-EBD787FA4C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6" y="2723"/>
                <a:ext cx="11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pt-BR" altLang="pt-BR" sz="800">
                  <a:ea typeface="MS PGothic" panose="020B0600070205080204" pitchFamily="34" charset="-128"/>
                </a:endParaRPr>
              </a:p>
            </p:txBody>
          </p:sp>
          <p:sp>
            <p:nvSpPr>
              <p:cNvPr id="2076" name="Text Box 21">
                <a:extLst>
                  <a:ext uri="{FF2B5EF4-FFF2-40B4-BE49-F238E27FC236}">
                    <a16:creationId xmlns:a16="http://schemas.microsoft.com/office/drawing/2014/main" id="{CC27A73F-9198-F004-6D2C-50B8F15E37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4" y="2719"/>
                <a:ext cx="717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500">
                    <a:solidFill>
                      <a:srgbClr val="000000"/>
                    </a:solidFill>
                    <a:ea typeface="MS PGothic" panose="020B0600070205080204" pitchFamily="34" charset="-128"/>
                  </a:rPr>
                  <a:t>Este cartão é de uso exclusivo na área da ArcelorMIttal Tubarão</a:t>
                </a:r>
              </a:p>
            </p:txBody>
          </p:sp>
          <p:sp>
            <p:nvSpPr>
              <p:cNvPr id="2077" name="Rectangle 22">
                <a:extLst>
                  <a:ext uri="{FF2B5EF4-FFF2-40B4-BE49-F238E27FC236}">
                    <a16:creationId xmlns:a16="http://schemas.microsoft.com/office/drawing/2014/main" id="{E1AEAAF6-6A8F-64D3-B27C-45E5F58067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2" y="1712"/>
                <a:ext cx="456" cy="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800"/>
              </a:p>
            </p:txBody>
          </p:sp>
        </p:grpSp>
        <p:sp>
          <p:nvSpPr>
            <p:cNvPr id="2073" name="Rectangle 23">
              <a:extLst>
                <a:ext uri="{FF2B5EF4-FFF2-40B4-BE49-F238E27FC236}">
                  <a16:creationId xmlns:a16="http://schemas.microsoft.com/office/drawing/2014/main" id="{55030A56-CE61-CEF3-E15D-3A6E78CB9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2" y="2704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grpSp>
        <p:nvGrpSpPr>
          <p:cNvPr id="2054" name="Group 22">
            <a:extLst>
              <a:ext uri="{FF2B5EF4-FFF2-40B4-BE49-F238E27FC236}">
                <a16:creationId xmlns:a16="http://schemas.microsoft.com/office/drawing/2014/main" id="{5C0E1AB1-B899-54C0-E92F-D4E792B89559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4643438"/>
            <a:ext cx="6340475" cy="2051050"/>
            <a:chOff x="0" y="0"/>
            <a:chExt cx="3994" cy="1292"/>
          </a:xfrm>
        </p:grpSpPr>
        <p:pic>
          <p:nvPicPr>
            <p:cNvPr id="2067" name="Picture 7" descr="Cartao_autorizacao empresa contratada (1)">
              <a:extLst>
                <a:ext uri="{FF2B5EF4-FFF2-40B4-BE49-F238E27FC236}">
                  <a16:creationId xmlns:a16="http://schemas.microsoft.com/office/drawing/2014/main" id="{EA21AF8D-E51E-9DF9-222E-24D2D5FF4C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994" cy="1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68" name="Text Box 10">
              <a:extLst>
                <a:ext uri="{FF2B5EF4-FFF2-40B4-BE49-F238E27FC236}">
                  <a16:creationId xmlns:a16="http://schemas.microsoft.com/office/drawing/2014/main" id="{1D00C17B-FBEF-D625-E759-034848353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" y="1068"/>
              <a:ext cx="11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800">
                <a:ea typeface="MS PGothic" panose="020B0600070205080204" pitchFamily="34" charset="-128"/>
              </a:endParaRPr>
            </a:p>
          </p:txBody>
        </p:sp>
        <p:sp>
          <p:nvSpPr>
            <p:cNvPr id="2069" name="Text Box 11">
              <a:extLst>
                <a:ext uri="{FF2B5EF4-FFF2-40B4-BE49-F238E27FC236}">
                  <a16:creationId xmlns:a16="http://schemas.microsoft.com/office/drawing/2014/main" id="{A88F02E7-705A-552C-5F10-78CA8EA2A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" y="1064"/>
              <a:ext cx="7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500">
                  <a:solidFill>
                    <a:srgbClr val="000000"/>
                  </a:solidFill>
                  <a:ea typeface="MS PGothic" panose="020B0600070205080204" pitchFamily="34" charset="-128"/>
                </a:rPr>
                <a:t>Este cartão é de uso exclusivo na área da ArcelorMIttal Tubarão</a:t>
              </a:r>
            </a:p>
          </p:txBody>
        </p:sp>
        <p:sp>
          <p:nvSpPr>
            <p:cNvPr id="2070" name="Rectangle 13">
              <a:extLst>
                <a:ext uri="{FF2B5EF4-FFF2-40B4-BE49-F238E27FC236}">
                  <a16:creationId xmlns:a16="http://schemas.microsoft.com/office/drawing/2014/main" id="{6F51D0AA-6FC6-413B-A20F-B3E1F730B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049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  <p:sp>
          <p:nvSpPr>
            <p:cNvPr id="2071" name="Rectangle 30">
              <a:extLst>
                <a:ext uri="{FF2B5EF4-FFF2-40B4-BE49-F238E27FC236}">
                  <a16:creationId xmlns:a16="http://schemas.microsoft.com/office/drawing/2014/main" id="{600E3B59-BAA3-AB95-4ABB-06A2B316B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" y="68"/>
              <a:ext cx="408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sp>
        <p:nvSpPr>
          <p:cNvPr id="2055" name="Retângulo 3">
            <a:extLst>
              <a:ext uri="{FF2B5EF4-FFF2-40B4-BE49-F238E27FC236}">
                <a16:creationId xmlns:a16="http://schemas.microsoft.com/office/drawing/2014/main" id="{C73B6B10-0605-ED71-8F85-EACDD989B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8361363"/>
            <a:ext cx="184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</p:txBody>
      </p:sp>
      <p:sp>
        <p:nvSpPr>
          <p:cNvPr id="46" name="Retângulo de cantos arredondados 45">
            <a:extLst>
              <a:ext uri="{FF2B5EF4-FFF2-40B4-BE49-F238E27FC236}">
                <a16:creationId xmlns:a16="http://schemas.microsoft.com/office/drawing/2014/main" id="{470FF6CC-1001-1574-84B0-7B1BD1434F00}"/>
              </a:ext>
            </a:extLst>
          </p:cNvPr>
          <p:cNvSpPr/>
          <p:nvPr/>
        </p:nvSpPr>
        <p:spPr>
          <a:xfrm>
            <a:off x="1484313" y="3563938"/>
            <a:ext cx="2289175" cy="35401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MATRICULA: </a:t>
            </a: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13762726795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8" name="Retângulo de cantos arredondados 47">
            <a:extLst>
              <a:ext uri="{FF2B5EF4-FFF2-40B4-BE49-F238E27FC236}">
                <a16:creationId xmlns:a16="http://schemas.microsoft.com/office/drawing/2014/main" id="{4852FBDD-3DB1-D7D9-213B-2A42E9D900AD}"/>
              </a:ext>
            </a:extLst>
          </p:cNvPr>
          <p:cNvSpPr/>
          <p:nvPr/>
        </p:nvSpPr>
        <p:spPr>
          <a:xfrm>
            <a:off x="1441450" y="8181182"/>
            <a:ext cx="2289175" cy="279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MATRICULA: </a:t>
            </a: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14154086707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3" name="Retângulo de cantos arredondados 52">
            <a:extLst>
              <a:ext uri="{FF2B5EF4-FFF2-40B4-BE49-F238E27FC236}">
                <a16:creationId xmlns:a16="http://schemas.microsoft.com/office/drawing/2014/main" id="{30C4ADEC-7D9F-6DB5-D7EB-1C4187829FD6}"/>
              </a:ext>
            </a:extLst>
          </p:cNvPr>
          <p:cNvSpPr/>
          <p:nvPr/>
        </p:nvSpPr>
        <p:spPr>
          <a:xfrm>
            <a:off x="1427163" y="827088"/>
            <a:ext cx="2289175" cy="3540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NOME</a:t>
            </a: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: ALAN GOMES DA SILVA</a:t>
            </a:r>
            <a:endParaRPr lang="pt-BR" sz="8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4" name="Retângulo de cantos arredondados 53">
            <a:extLst>
              <a:ext uri="{FF2B5EF4-FFF2-40B4-BE49-F238E27FC236}">
                <a16:creationId xmlns:a16="http://schemas.microsoft.com/office/drawing/2014/main" id="{10639759-E8A8-D8D6-2E56-FEC304BBF920}"/>
              </a:ext>
            </a:extLst>
          </p:cNvPr>
          <p:cNvSpPr/>
          <p:nvPr/>
        </p:nvSpPr>
        <p:spPr>
          <a:xfrm>
            <a:off x="1427857" y="1296988"/>
            <a:ext cx="2289175" cy="35242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MATRICULA: </a:t>
            </a: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17088417766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061" name="Text Box 19">
            <a:extLst>
              <a:ext uri="{FF2B5EF4-FFF2-40B4-BE49-F238E27FC236}">
                <a16:creationId xmlns:a16="http://schemas.microsoft.com/office/drawing/2014/main" id="{0FE57F32-FC60-D299-DA14-08260B5DD64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441450" y="5484813"/>
            <a:ext cx="2033588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900" b="1" dirty="0">
                <a:solidFill>
                  <a:srgbClr val="000000"/>
                </a:solidFill>
                <a:ea typeface="MS PGothic" panose="020B0600070205080204" pitchFamily="34" charset="-128"/>
              </a:rPr>
              <a:t>Nome</a:t>
            </a:r>
            <a:r>
              <a:rPr lang="pt-BR" altLang="pt-BR" sz="900" b="1" dirty="0">
                <a:solidFill>
                  <a:srgbClr val="000000"/>
                </a:solidFill>
                <a:ea typeface="MS PGothic" panose="020B0600070205080204" pitchFamily="34" charset="-128"/>
              </a:rPr>
              <a:t>: </a:t>
            </a:r>
            <a:r>
              <a:rPr lang="pt-BR" altLang="pt-BR" sz="800" b="1" dirty="0">
                <a:solidFill>
                  <a:srgbClr val="000000"/>
                </a:solidFill>
                <a:ea typeface="MS PGothic" panose="020B0600070205080204" pitchFamily="34" charset="-128"/>
              </a:rPr>
              <a:t>VALQUES RIBEIRO GONCALVES</a:t>
            </a:r>
            <a:endParaRPr lang="pt-BR" altLang="pt-BR" sz="800" b="1" dirty="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51" name="Retângulo de cantos arredondados 45">
            <a:extLst>
              <a:ext uri="{FF2B5EF4-FFF2-40B4-BE49-F238E27FC236}">
                <a16:creationId xmlns:a16="http://schemas.microsoft.com/office/drawing/2014/main" id="{997CACA3-2EDF-8E1A-F485-7A66DD8B456C}"/>
              </a:ext>
            </a:extLst>
          </p:cNvPr>
          <p:cNvSpPr/>
          <p:nvPr/>
        </p:nvSpPr>
        <p:spPr>
          <a:xfrm>
            <a:off x="1441450" y="5967413"/>
            <a:ext cx="2289175" cy="35401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MATRICULA: </a:t>
            </a: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18393107741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pic>
        <p:nvPicPr>
          <p:cNvPr id="40" name="Imagem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27" y="2476554"/>
            <a:ext cx="739551" cy="292099"/>
          </a:xfrm>
          <a:prstGeom prst="rect">
            <a:avLst/>
          </a:prstGeom>
        </p:spPr>
      </p:pic>
      <p:pic>
        <p:nvPicPr>
          <p:cNvPr id="41" name="Imagem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477" y="4759380"/>
            <a:ext cx="839898" cy="331733"/>
          </a:xfrm>
          <a:prstGeom prst="rect">
            <a:avLst/>
          </a:prstGeom>
        </p:spPr>
      </p:pic>
      <p:pic>
        <p:nvPicPr>
          <p:cNvPr id="42" name="Imagem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824" y="190556"/>
            <a:ext cx="739551" cy="292099"/>
          </a:xfrm>
          <a:prstGeom prst="rect">
            <a:avLst/>
          </a:prstGeom>
        </p:spPr>
      </p:pic>
      <p:pic>
        <p:nvPicPr>
          <p:cNvPr id="43" name="Imagem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308" y="2476554"/>
            <a:ext cx="811643" cy="292099"/>
          </a:xfrm>
          <a:prstGeom prst="rect">
            <a:avLst/>
          </a:prstGeom>
        </p:spPr>
      </p:pic>
      <p:pic>
        <p:nvPicPr>
          <p:cNvPr id="44" name="Imagem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2053" y="7077590"/>
            <a:ext cx="839898" cy="33173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375" y="805973"/>
            <a:ext cx="703163" cy="111536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29" y="3016389"/>
            <a:ext cx="847166" cy="1147773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375" y="5296577"/>
            <a:ext cx="703163" cy="1195377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068" y="7612857"/>
            <a:ext cx="870449" cy="121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168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4">
            <a:extLst>
              <a:ext uri="{FF2B5EF4-FFF2-40B4-BE49-F238E27FC236}">
                <a16:creationId xmlns:a16="http://schemas.microsoft.com/office/drawing/2014/main" id="{87A20DAD-8159-3608-9E02-CD67FAED39F7}"/>
              </a:ext>
            </a:extLst>
          </p:cNvPr>
          <p:cNvGrpSpPr>
            <a:grpSpLocks/>
          </p:cNvGrpSpPr>
          <p:nvPr/>
        </p:nvGrpSpPr>
        <p:grpSpPr bwMode="auto">
          <a:xfrm>
            <a:off x="257174" y="2281238"/>
            <a:ext cx="6340475" cy="2051050"/>
            <a:chOff x="1048" y="1633"/>
            <a:chExt cx="3994" cy="1292"/>
          </a:xfrm>
        </p:grpSpPr>
        <p:grpSp>
          <p:nvGrpSpPr>
            <p:cNvPr id="2084" name="Group 15">
              <a:extLst>
                <a:ext uri="{FF2B5EF4-FFF2-40B4-BE49-F238E27FC236}">
                  <a16:creationId xmlns:a16="http://schemas.microsoft.com/office/drawing/2014/main" id="{E11A9F78-EE26-B358-9954-8A4799B01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" y="1633"/>
              <a:ext cx="3994" cy="1292"/>
              <a:chOff x="1048" y="1633"/>
              <a:chExt cx="3994" cy="1292"/>
            </a:xfrm>
          </p:grpSpPr>
          <p:grpSp>
            <p:nvGrpSpPr>
              <p:cNvPr id="2086" name="Group 16">
                <a:extLst>
                  <a:ext uri="{FF2B5EF4-FFF2-40B4-BE49-F238E27FC236}">
                    <a16:creationId xmlns:a16="http://schemas.microsoft.com/office/drawing/2014/main" id="{3706F397-816E-2697-10BB-9AFE277D3EB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048" y="1633"/>
                <a:ext cx="3994" cy="1292"/>
                <a:chOff x="544" y="1685"/>
                <a:chExt cx="4537" cy="1587"/>
              </a:xfrm>
            </p:grpSpPr>
            <p:pic>
              <p:nvPicPr>
                <p:cNvPr id="2090" name="Picture 17" descr="Cartao_autorizacao empresa contratada (1)">
                  <a:extLst>
                    <a:ext uri="{FF2B5EF4-FFF2-40B4-BE49-F238E27FC236}">
                      <a16:creationId xmlns:a16="http://schemas.microsoft.com/office/drawing/2014/main" id="{1F242285-5834-C1E9-F000-BCAE581AC56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4" y="1685"/>
                  <a:ext cx="4537" cy="15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91" name="Text Box 19">
                  <a:extLst>
                    <a:ext uri="{FF2B5EF4-FFF2-40B4-BE49-F238E27FC236}">
                      <a16:creationId xmlns:a16="http://schemas.microsoft.com/office/drawing/2014/main" id="{04A2D5BA-36E1-FEBA-FC34-93B6BB9FDD57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440" y="2344"/>
                  <a:ext cx="1425" cy="2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r>
                    <a:rPr lang="pt-BR" altLang="pt-BR" sz="9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Nome</a:t>
                  </a:r>
                  <a:r>
                    <a:rPr lang="pt-BR" altLang="pt-BR" sz="800" b="1" dirty="0" smtClean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: </a:t>
                  </a:r>
                  <a:r>
                    <a:rPr lang="pt-BR" altLang="pt-BR" sz="8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PROCOPIO DE SOUZA PEREIRA</a:t>
                  </a:r>
                  <a:endParaRPr lang="pt-BR" altLang="pt-BR" sz="800" b="1" dirty="0">
                    <a:solidFill>
                      <a:srgbClr val="000000"/>
                    </a:solidFill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2087" name="Text Box 20">
                <a:extLst>
                  <a:ext uri="{FF2B5EF4-FFF2-40B4-BE49-F238E27FC236}">
                    <a16:creationId xmlns:a16="http://schemas.microsoft.com/office/drawing/2014/main" id="{6CAA846F-5C89-394C-F213-2AF6EFD58B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6" y="2723"/>
                <a:ext cx="11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pt-BR" altLang="pt-BR" sz="800">
                  <a:ea typeface="MS PGothic" panose="020B0600070205080204" pitchFamily="34" charset="-128"/>
                </a:endParaRPr>
              </a:p>
            </p:txBody>
          </p:sp>
          <p:sp>
            <p:nvSpPr>
              <p:cNvPr id="2088" name="Text Box 21">
                <a:extLst>
                  <a:ext uri="{FF2B5EF4-FFF2-40B4-BE49-F238E27FC236}">
                    <a16:creationId xmlns:a16="http://schemas.microsoft.com/office/drawing/2014/main" id="{C793A03D-C72F-868F-DA40-C8FB95ABE9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4" y="2719"/>
                <a:ext cx="717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500">
                    <a:solidFill>
                      <a:srgbClr val="000000"/>
                    </a:solidFill>
                    <a:ea typeface="MS PGothic" panose="020B0600070205080204" pitchFamily="34" charset="-128"/>
                  </a:rPr>
                  <a:t>Este cartão é de uso exclusivo na área da ArcelorMIttal Tubarão</a:t>
                </a:r>
              </a:p>
            </p:txBody>
          </p:sp>
          <p:sp>
            <p:nvSpPr>
              <p:cNvPr id="2089" name="Rectangle 22">
                <a:extLst>
                  <a:ext uri="{FF2B5EF4-FFF2-40B4-BE49-F238E27FC236}">
                    <a16:creationId xmlns:a16="http://schemas.microsoft.com/office/drawing/2014/main" id="{F297CF9F-C536-D598-7AB1-68914D57F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2" y="1712"/>
                <a:ext cx="456" cy="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800"/>
              </a:p>
            </p:txBody>
          </p:sp>
        </p:grpSp>
        <p:sp>
          <p:nvSpPr>
            <p:cNvPr id="2085" name="Rectangle 23">
              <a:extLst>
                <a:ext uri="{FF2B5EF4-FFF2-40B4-BE49-F238E27FC236}">
                  <a16:creationId xmlns:a16="http://schemas.microsoft.com/office/drawing/2014/main" id="{0744B21F-060A-99B5-DFFF-95E4169B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2" y="2704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grpSp>
        <p:nvGrpSpPr>
          <p:cNvPr id="2051" name="Group 22">
            <a:extLst>
              <a:ext uri="{FF2B5EF4-FFF2-40B4-BE49-F238E27FC236}">
                <a16:creationId xmlns:a16="http://schemas.microsoft.com/office/drawing/2014/main" id="{5E0E5BE1-D494-9B6D-FFDF-FD6A0E8B1B32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73025"/>
            <a:ext cx="6340475" cy="2051050"/>
            <a:chOff x="0" y="0"/>
            <a:chExt cx="3994" cy="1292"/>
          </a:xfrm>
        </p:grpSpPr>
        <p:pic>
          <p:nvPicPr>
            <p:cNvPr id="2080" name="Picture 7" descr="Cartao_autorizacao empresa contratada (1)">
              <a:extLst>
                <a:ext uri="{FF2B5EF4-FFF2-40B4-BE49-F238E27FC236}">
                  <a16:creationId xmlns:a16="http://schemas.microsoft.com/office/drawing/2014/main" id="{C802A1C4-7E5A-AD81-621D-22AFEFDF9B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994" cy="1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81" name="Text Box 10">
              <a:extLst>
                <a:ext uri="{FF2B5EF4-FFF2-40B4-BE49-F238E27FC236}">
                  <a16:creationId xmlns:a16="http://schemas.microsoft.com/office/drawing/2014/main" id="{97959D44-06C6-1FBE-4AEC-2CB67B6DEE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" y="1068"/>
              <a:ext cx="11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800">
                <a:ea typeface="MS PGothic" panose="020B0600070205080204" pitchFamily="34" charset="-128"/>
              </a:endParaRPr>
            </a:p>
          </p:txBody>
        </p:sp>
        <p:sp>
          <p:nvSpPr>
            <p:cNvPr id="2082" name="Text Box 11">
              <a:extLst>
                <a:ext uri="{FF2B5EF4-FFF2-40B4-BE49-F238E27FC236}">
                  <a16:creationId xmlns:a16="http://schemas.microsoft.com/office/drawing/2014/main" id="{4C6FAC2F-78EE-C75B-2743-D2D6A4D49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" y="1064"/>
              <a:ext cx="7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500">
                  <a:solidFill>
                    <a:srgbClr val="000000"/>
                  </a:solidFill>
                  <a:ea typeface="MS PGothic" panose="020B0600070205080204" pitchFamily="34" charset="-128"/>
                </a:rPr>
                <a:t>Este cartão é de uso exclusivo na área da ArcelorMIttal Tubarão</a:t>
              </a:r>
            </a:p>
          </p:txBody>
        </p:sp>
        <p:sp>
          <p:nvSpPr>
            <p:cNvPr id="2083" name="Rectangle 13">
              <a:extLst>
                <a:ext uri="{FF2B5EF4-FFF2-40B4-BE49-F238E27FC236}">
                  <a16:creationId xmlns:a16="http://schemas.microsoft.com/office/drawing/2014/main" id="{835378F3-EDFA-5A3D-8C7D-E87FEC7CE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049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sp>
        <p:nvSpPr>
          <p:cNvPr id="2052" name="Retângulo 3">
            <a:extLst>
              <a:ext uri="{FF2B5EF4-FFF2-40B4-BE49-F238E27FC236}">
                <a16:creationId xmlns:a16="http://schemas.microsoft.com/office/drawing/2014/main" id="{463EEEB3-340F-6F28-79EB-D4213940A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3790950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</p:txBody>
      </p:sp>
      <p:grpSp>
        <p:nvGrpSpPr>
          <p:cNvPr id="2053" name="Group 14">
            <a:extLst>
              <a:ext uri="{FF2B5EF4-FFF2-40B4-BE49-F238E27FC236}">
                <a16:creationId xmlns:a16="http://schemas.microsoft.com/office/drawing/2014/main" id="{E95A31A5-A09F-2F28-96C1-60EAECAC3447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6946900"/>
            <a:ext cx="6340475" cy="2051050"/>
            <a:chOff x="1048" y="1655"/>
            <a:chExt cx="3994" cy="1292"/>
          </a:xfrm>
        </p:grpSpPr>
        <p:grpSp>
          <p:nvGrpSpPr>
            <p:cNvPr id="2072" name="Group 15">
              <a:extLst>
                <a:ext uri="{FF2B5EF4-FFF2-40B4-BE49-F238E27FC236}">
                  <a16:creationId xmlns:a16="http://schemas.microsoft.com/office/drawing/2014/main" id="{85BCA71A-ABAE-67B9-CDA6-B13FCD9C01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" y="1655"/>
              <a:ext cx="3994" cy="1292"/>
              <a:chOff x="1048" y="1655"/>
              <a:chExt cx="3994" cy="1292"/>
            </a:xfrm>
          </p:grpSpPr>
          <p:grpSp>
            <p:nvGrpSpPr>
              <p:cNvPr id="2074" name="Group 16">
                <a:extLst>
                  <a:ext uri="{FF2B5EF4-FFF2-40B4-BE49-F238E27FC236}">
                    <a16:creationId xmlns:a16="http://schemas.microsoft.com/office/drawing/2014/main" id="{349598CC-5189-6720-D407-F8A992C2C6B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048" y="1655"/>
                <a:ext cx="3994" cy="1292"/>
                <a:chOff x="544" y="1712"/>
                <a:chExt cx="4537" cy="1587"/>
              </a:xfrm>
            </p:grpSpPr>
            <p:pic>
              <p:nvPicPr>
                <p:cNvPr id="2078" name="Picture 17" descr="Cartao_autorizacao empresa contratada (1)">
                  <a:extLst>
                    <a:ext uri="{FF2B5EF4-FFF2-40B4-BE49-F238E27FC236}">
                      <a16:creationId xmlns:a16="http://schemas.microsoft.com/office/drawing/2014/main" id="{BEA78897-9342-F1A3-F3B1-3CAD415A325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4" y="1712"/>
                  <a:ext cx="4537" cy="15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79" name="Text Box 19">
                  <a:extLst>
                    <a:ext uri="{FF2B5EF4-FFF2-40B4-BE49-F238E27FC236}">
                      <a16:creationId xmlns:a16="http://schemas.microsoft.com/office/drawing/2014/main" id="{7323BEAF-0AAE-C903-BC1A-39BAAD995ED6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410" y="2356"/>
                  <a:ext cx="1455" cy="2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r>
                    <a:rPr lang="pt-BR" altLang="pt-BR" sz="9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Nome: </a:t>
                  </a:r>
                  <a:r>
                    <a:rPr lang="pt-BR" altLang="pt-BR" sz="8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FABIO LUIZ SOARES FERREIRA</a:t>
                  </a:r>
                  <a:endParaRPr lang="pt-BR" altLang="pt-BR" sz="800" b="1" dirty="0">
                    <a:solidFill>
                      <a:srgbClr val="000000"/>
                    </a:solidFill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2075" name="Text Box 20">
                <a:extLst>
                  <a:ext uri="{FF2B5EF4-FFF2-40B4-BE49-F238E27FC236}">
                    <a16:creationId xmlns:a16="http://schemas.microsoft.com/office/drawing/2014/main" id="{A6196DB2-B5B8-1EB1-D01C-EBD787FA4C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6" y="2723"/>
                <a:ext cx="11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pt-BR" altLang="pt-BR" sz="800">
                  <a:ea typeface="MS PGothic" panose="020B0600070205080204" pitchFamily="34" charset="-128"/>
                </a:endParaRPr>
              </a:p>
            </p:txBody>
          </p:sp>
          <p:sp>
            <p:nvSpPr>
              <p:cNvPr id="2076" name="Text Box 21">
                <a:extLst>
                  <a:ext uri="{FF2B5EF4-FFF2-40B4-BE49-F238E27FC236}">
                    <a16:creationId xmlns:a16="http://schemas.microsoft.com/office/drawing/2014/main" id="{CC27A73F-9198-F004-6D2C-50B8F15E37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4" y="2719"/>
                <a:ext cx="717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500">
                    <a:solidFill>
                      <a:srgbClr val="000000"/>
                    </a:solidFill>
                    <a:ea typeface="MS PGothic" panose="020B0600070205080204" pitchFamily="34" charset="-128"/>
                  </a:rPr>
                  <a:t>Este cartão é de uso exclusivo na área da ArcelorMIttal Tubarão</a:t>
                </a:r>
              </a:p>
            </p:txBody>
          </p:sp>
          <p:sp>
            <p:nvSpPr>
              <p:cNvPr id="2077" name="Rectangle 22">
                <a:extLst>
                  <a:ext uri="{FF2B5EF4-FFF2-40B4-BE49-F238E27FC236}">
                    <a16:creationId xmlns:a16="http://schemas.microsoft.com/office/drawing/2014/main" id="{E1AEAAF6-6A8F-64D3-B27C-45E5F58067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2" y="1712"/>
                <a:ext cx="456" cy="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800"/>
              </a:p>
            </p:txBody>
          </p:sp>
        </p:grpSp>
        <p:sp>
          <p:nvSpPr>
            <p:cNvPr id="2073" name="Rectangle 23">
              <a:extLst>
                <a:ext uri="{FF2B5EF4-FFF2-40B4-BE49-F238E27FC236}">
                  <a16:creationId xmlns:a16="http://schemas.microsoft.com/office/drawing/2014/main" id="{55030A56-CE61-CEF3-E15D-3A6E78CB9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2" y="2704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grpSp>
        <p:nvGrpSpPr>
          <p:cNvPr id="2054" name="Group 22">
            <a:extLst>
              <a:ext uri="{FF2B5EF4-FFF2-40B4-BE49-F238E27FC236}">
                <a16:creationId xmlns:a16="http://schemas.microsoft.com/office/drawing/2014/main" id="{5C0E1AB1-B899-54C0-E92F-D4E792B89559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4643438"/>
            <a:ext cx="6340475" cy="2051050"/>
            <a:chOff x="0" y="0"/>
            <a:chExt cx="3994" cy="1292"/>
          </a:xfrm>
        </p:grpSpPr>
        <p:pic>
          <p:nvPicPr>
            <p:cNvPr id="2067" name="Picture 7" descr="Cartao_autorizacao empresa contratada (1)">
              <a:extLst>
                <a:ext uri="{FF2B5EF4-FFF2-40B4-BE49-F238E27FC236}">
                  <a16:creationId xmlns:a16="http://schemas.microsoft.com/office/drawing/2014/main" id="{EA21AF8D-E51E-9DF9-222E-24D2D5FF4C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994" cy="1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68" name="Text Box 10">
              <a:extLst>
                <a:ext uri="{FF2B5EF4-FFF2-40B4-BE49-F238E27FC236}">
                  <a16:creationId xmlns:a16="http://schemas.microsoft.com/office/drawing/2014/main" id="{1D00C17B-FBEF-D625-E759-034848353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" y="1068"/>
              <a:ext cx="11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800">
                <a:ea typeface="MS PGothic" panose="020B0600070205080204" pitchFamily="34" charset="-128"/>
              </a:endParaRPr>
            </a:p>
          </p:txBody>
        </p:sp>
        <p:sp>
          <p:nvSpPr>
            <p:cNvPr id="2069" name="Text Box 11">
              <a:extLst>
                <a:ext uri="{FF2B5EF4-FFF2-40B4-BE49-F238E27FC236}">
                  <a16:creationId xmlns:a16="http://schemas.microsoft.com/office/drawing/2014/main" id="{A88F02E7-705A-552C-5F10-78CA8EA2A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" y="1064"/>
              <a:ext cx="7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500">
                  <a:solidFill>
                    <a:srgbClr val="000000"/>
                  </a:solidFill>
                  <a:ea typeface="MS PGothic" panose="020B0600070205080204" pitchFamily="34" charset="-128"/>
                </a:rPr>
                <a:t>Este cartão é de uso exclusivo na área da ArcelorMIttal Tubarão</a:t>
              </a:r>
            </a:p>
          </p:txBody>
        </p:sp>
        <p:sp>
          <p:nvSpPr>
            <p:cNvPr id="2070" name="Rectangle 13">
              <a:extLst>
                <a:ext uri="{FF2B5EF4-FFF2-40B4-BE49-F238E27FC236}">
                  <a16:creationId xmlns:a16="http://schemas.microsoft.com/office/drawing/2014/main" id="{6F51D0AA-6FC6-413B-A20F-B3E1F730B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049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  <p:sp>
          <p:nvSpPr>
            <p:cNvPr id="2071" name="Rectangle 30">
              <a:extLst>
                <a:ext uri="{FF2B5EF4-FFF2-40B4-BE49-F238E27FC236}">
                  <a16:creationId xmlns:a16="http://schemas.microsoft.com/office/drawing/2014/main" id="{600E3B59-BAA3-AB95-4ABB-06A2B316B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" y="68"/>
              <a:ext cx="408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sp>
        <p:nvSpPr>
          <p:cNvPr id="2055" name="Retângulo 3">
            <a:extLst>
              <a:ext uri="{FF2B5EF4-FFF2-40B4-BE49-F238E27FC236}">
                <a16:creationId xmlns:a16="http://schemas.microsoft.com/office/drawing/2014/main" id="{C73B6B10-0605-ED71-8F85-EACDD989B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8361363"/>
            <a:ext cx="184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</p:txBody>
      </p:sp>
      <p:sp>
        <p:nvSpPr>
          <p:cNvPr id="46" name="Retângulo de cantos arredondados 45">
            <a:extLst>
              <a:ext uri="{FF2B5EF4-FFF2-40B4-BE49-F238E27FC236}">
                <a16:creationId xmlns:a16="http://schemas.microsoft.com/office/drawing/2014/main" id="{470FF6CC-1001-1574-84B0-7B1BD1434F00}"/>
              </a:ext>
            </a:extLst>
          </p:cNvPr>
          <p:cNvSpPr/>
          <p:nvPr/>
        </p:nvSpPr>
        <p:spPr>
          <a:xfrm>
            <a:off x="1514474" y="3565641"/>
            <a:ext cx="2289175" cy="35401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</a:t>
            </a:r>
            <a:r>
              <a:rPr lang="pt-BR" sz="800" b="1" dirty="0" smtClean="0">
                <a:solidFill>
                  <a:schemeClr val="tx1"/>
                </a:solidFill>
                <a:cs typeface="Arial" pitchFamily="34" charset="0"/>
              </a:rPr>
              <a:t>: </a:t>
            </a: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07906627792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8" name="Retângulo de cantos arredondados 47">
            <a:extLst>
              <a:ext uri="{FF2B5EF4-FFF2-40B4-BE49-F238E27FC236}">
                <a16:creationId xmlns:a16="http://schemas.microsoft.com/office/drawing/2014/main" id="{4852FBDD-3DB1-D7D9-213B-2A42E9D900AD}"/>
              </a:ext>
            </a:extLst>
          </p:cNvPr>
          <p:cNvSpPr/>
          <p:nvPr/>
        </p:nvSpPr>
        <p:spPr>
          <a:xfrm>
            <a:off x="1453228" y="8181633"/>
            <a:ext cx="2289175" cy="279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MATRICULA: </a:t>
            </a: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08544064760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3" name="Retângulo de cantos arredondados 52">
            <a:extLst>
              <a:ext uri="{FF2B5EF4-FFF2-40B4-BE49-F238E27FC236}">
                <a16:creationId xmlns:a16="http://schemas.microsoft.com/office/drawing/2014/main" id="{30C4ADEC-7D9F-6DB5-D7EB-1C4187829FD6}"/>
              </a:ext>
            </a:extLst>
          </p:cNvPr>
          <p:cNvSpPr/>
          <p:nvPr/>
        </p:nvSpPr>
        <p:spPr>
          <a:xfrm>
            <a:off x="1427163" y="827088"/>
            <a:ext cx="2289175" cy="3540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NOME</a:t>
            </a:r>
            <a:r>
              <a:rPr lang="pt-BR" sz="800" b="1" dirty="0" smtClean="0">
                <a:solidFill>
                  <a:schemeClr val="tx1"/>
                </a:solidFill>
                <a:cs typeface="Arial" pitchFamily="34" charset="0"/>
              </a:rPr>
              <a:t>: ELIAS CRISPIM SANTOS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4" name="Retângulo de cantos arredondados 53">
            <a:extLst>
              <a:ext uri="{FF2B5EF4-FFF2-40B4-BE49-F238E27FC236}">
                <a16:creationId xmlns:a16="http://schemas.microsoft.com/office/drawing/2014/main" id="{10639759-E8A8-D8D6-2E56-FEC304BBF920}"/>
              </a:ext>
            </a:extLst>
          </p:cNvPr>
          <p:cNvSpPr/>
          <p:nvPr/>
        </p:nvSpPr>
        <p:spPr>
          <a:xfrm>
            <a:off x="1427857" y="1296988"/>
            <a:ext cx="2289175" cy="35242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</a:t>
            </a:r>
            <a:r>
              <a:rPr lang="pt-BR" sz="800" b="1" dirty="0" smtClean="0">
                <a:solidFill>
                  <a:schemeClr val="tx1"/>
                </a:solidFill>
                <a:cs typeface="Arial" pitchFamily="34" charset="0"/>
              </a:rPr>
              <a:t>: 09192843700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061" name="Text Box 19">
            <a:extLst>
              <a:ext uri="{FF2B5EF4-FFF2-40B4-BE49-F238E27FC236}">
                <a16:creationId xmlns:a16="http://schemas.microsoft.com/office/drawing/2014/main" id="{0FE57F32-FC60-D299-DA14-08260B5DD64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441450" y="5484813"/>
            <a:ext cx="2033588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900" b="1" dirty="0">
                <a:solidFill>
                  <a:srgbClr val="000000"/>
                </a:solidFill>
                <a:ea typeface="MS PGothic" panose="020B0600070205080204" pitchFamily="34" charset="-128"/>
              </a:rPr>
              <a:t>Nome: </a:t>
            </a:r>
            <a:r>
              <a:rPr lang="pt-BR" altLang="pt-BR" sz="800" b="1" dirty="0">
                <a:solidFill>
                  <a:srgbClr val="000000"/>
                </a:solidFill>
                <a:ea typeface="MS PGothic" panose="020B0600070205080204" pitchFamily="34" charset="-128"/>
              </a:rPr>
              <a:t>WESLEY DE AZEVEDO BARBOZA</a:t>
            </a:r>
          </a:p>
        </p:txBody>
      </p:sp>
      <p:sp>
        <p:nvSpPr>
          <p:cNvPr id="51" name="Retângulo de cantos arredondados 45">
            <a:extLst>
              <a:ext uri="{FF2B5EF4-FFF2-40B4-BE49-F238E27FC236}">
                <a16:creationId xmlns:a16="http://schemas.microsoft.com/office/drawing/2014/main" id="{997CACA3-2EDF-8E1A-F485-7A66DD8B456C}"/>
              </a:ext>
            </a:extLst>
          </p:cNvPr>
          <p:cNvSpPr/>
          <p:nvPr/>
        </p:nvSpPr>
        <p:spPr>
          <a:xfrm>
            <a:off x="1441450" y="5967413"/>
            <a:ext cx="2289175" cy="35401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</a:t>
            </a:r>
            <a:r>
              <a:rPr lang="pt-BR" sz="800" b="1" dirty="0" smtClean="0">
                <a:solidFill>
                  <a:schemeClr val="tx1"/>
                </a:solidFill>
                <a:cs typeface="Arial" pitchFamily="34" charset="0"/>
              </a:rPr>
              <a:t>: </a:t>
            </a:r>
            <a:r>
              <a:rPr lang="pt-BR" sz="900" dirty="0">
                <a:solidFill>
                  <a:schemeClr val="tx1"/>
                </a:solidFill>
              </a:rPr>
              <a:t>70129410</a:t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pic>
        <p:nvPicPr>
          <p:cNvPr id="40" name="Imagem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27" y="2476554"/>
            <a:ext cx="739551" cy="292099"/>
          </a:xfrm>
          <a:prstGeom prst="rect">
            <a:avLst/>
          </a:prstGeom>
        </p:spPr>
      </p:pic>
      <p:pic>
        <p:nvPicPr>
          <p:cNvPr id="41" name="Imagem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477" y="4759380"/>
            <a:ext cx="839898" cy="331733"/>
          </a:xfrm>
          <a:prstGeom prst="rect">
            <a:avLst/>
          </a:prstGeom>
        </p:spPr>
      </p:pic>
      <p:pic>
        <p:nvPicPr>
          <p:cNvPr id="42" name="Imagem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824" y="190556"/>
            <a:ext cx="739551" cy="292099"/>
          </a:xfrm>
          <a:prstGeom prst="rect">
            <a:avLst/>
          </a:prstGeom>
        </p:spPr>
      </p:pic>
      <p:pic>
        <p:nvPicPr>
          <p:cNvPr id="43" name="Imagem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308" y="2476554"/>
            <a:ext cx="811643" cy="292099"/>
          </a:xfrm>
          <a:prstGeom prst="rect">
            <a:avLst/>
          </a:prstGeom>
        </p:spPr>
      </p:pic>
      <p:pic>
        <p:nvPicPr>
          <p:cNvPr id="44" name="Imagem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053" y="7077590"/>
            <a:ext cx="839898" cy="331733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99" y="708026"/>
            <a:ext cx="971064" cy="1199678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78" y="5277223"/>
            <a:ext cx="959747" cy="123899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147" y="3003496"/>
            <a:ext cx="916218" cy="111056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61" y="7594258"/>
            <a:ext cx="850893" cy="122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89358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A472C7317BB748BE647878570B864E" ma:contentTypeVersion="16" ma:contentTypeDescription="Crie um novo documento." ma:contentTypeScope="" ma:versionID="00b7489f1151a96387864c8a47f8cada">
  <xsd:schema xmlns:xsd="http://www.w3.org/2001/XMLSchema" xmlns:xs="http://www.w3.org/2001/XMLSchema" xmlns:p="http://schemas.microsoft.com/office/2006/metadata/properties" xmlns:ns2="fa89330c-98bf-44ad-9d12-64f79370c7c9" xmlns:ns3="bed6fc8d-6e2f-48d1-a9d3-6bd172db2d23" targetNamespace="http://schemas.microsoft.com/office/2006/metadata/properties" ma:root="true" ma:fieldsID="48811fe973bef2dad4b571c9295597da" ns2:_="" ns3:_="">
    <xsd:import namespace="fa89330c-98bf-44ad-9d12-64f79370c7c9"/>
    <xsd:import namespace="bed6fc8d-6e2f-48d1-a9d3-6bd172db2d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89330c-98bf-44ad-9d12-64f79370c7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f158533b-86dd-4aa8-b015-b9ab4cea7a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d6fc8d-6e2f-48d1-a9d3-6bd172db2d2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4b69b96-3b6a-4b5b-a863-e65352500a0c}" ma:internalName="TaxCatchAll" ma:showField="CatchAllData" ma:web="bed6fc8d-6e2f-48d1-a9d3-6bd172db2d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89330c-98bf-44ad-9d12-64f79370c7c9">
      <Terms xmlns="http://schemas.microsoft.com/office/infopath/2007/PartnerControls"/>
    </lcf76f155ced4ddcb4097134ff3c332f>
    <TaxCatchAll xmlns="bed6fc8d-6e2f-48d1-a9d3-6bd172db2d23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BD9449-AF57-4C0A-B4AC-6D7F69001593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fa89330c-98bf-44ad-9d12-64f79370c7c9"/>
    <ds:schemaRef ds:uri="bed6fc8d-6e2f-48d1-a9d3-6bd172db2d23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6C373BE-FBCE-4970-BD91-EC4C47BE4C72}">
  <ds:schemaRefs>
    <ds:schemaRef ds:uri="http://schemas.microsoft.com/office/2006/documentManagement/types"/>
    <ds:schemaRef ds:uri="fa89330c-98bf-44ad-9d12-64f79370c7c9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bed6fc8d-6e2f-48d1-a9d3-6bd172db2d23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7E47D72-18CE-48A6-9224-61B5AD138B9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7304</TotalTime>
  <Words>318</Words>
  <Application>Microsoft Office PowerPoint</Application>
  <PresentationFormat>Apresentação na tela (4:3)</PresentationFormat>
  <Paragraphs>50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MS PGothic</vt:lpstr>
      <vt:lpstr>Arial</vt:lpstr>
      <vt:lpstr>Calibri</vt:lpstr>
      <vt:lpstr>Design padrão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Companhia Siderúrgica de Tubarão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CST</dc:creator>
  <cp:lastModifiedBy>Altec</cp:lastModifiedBy>
  <cp:revision>227</cp:revision>
  <cp:lastPrinted>2023-05-15T17:36:13Z</cp:lastPrinted>
  <dcterms:created xsi:type="dcterms:W3CDTF">2009-06-30T13:04:56Z</dcterms:created>
  <dcterms:modified xsi:type="dcterms:W3CDTF">2026-06-26T17:03:51Z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cf76f155ced4ddcb4097134ff3c332f">
    <vt:lpwstr/>
  </property>
  <property fmtid="{D5CDD505-2E9C-101B-9397-08002B2CF9AE}" pid="3" name="TaxCatchAll">
    <vt:lpwstr/>
  </property>
</Properties>
</file>